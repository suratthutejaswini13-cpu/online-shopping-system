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mysql.com/doc/refman/8.4/en/" TargetMode="External"/><Relationship Id="rId2" Type="http://schemas.openxmlformats.org/officeDocument/2006/relationships/hyperlink" Target="https://www.pearson.com/en-us/subject-catalog/p/elmasri-fundamentals-of-database-systems-systems-7th-edeition/P200000003546/9780137502523" TargetMode="Externa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97357" y="1234440"/>
            <a:ext cx="496680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82D4A"/>
                </a:solidFill>
                <a:latin typeface="Aptos Display"/>
              </a:defRPr>
            </a:pPr>
            <a:r>
              <a:rPr lang="en-US" dirty="0"/>
              <a:t>Online Shopping System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371600" y="2834640"/>
            <a:ext cx="94183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275B91"/>
                </a:solidFill>
                <a:latin typeface="Aptos"/>
              </a:defRPr>
            </a:pPr>
            <a:r>
              <a:rPr dirty="0"/>
              <a:t>Capstone Project – Review II</a:t>
            </a:r>
          </a:p>
          <a:p>
            <a:pPr algn="ctr">
              <a:spcAft>
                <a:spcPts val="700"/>
              </a:spcAft>
              <a:defRPr sz="1600" b="0">
                <a:solidFill>
                  <a:srgbClr val="5F6973"/>
                </a:solidFill>
                <a:latin typeface="Aptos"/>
              </a:defRPr>
            </a:pPr>
            <a:r>
              <a:rPr dirty="0"/>
              <a:t>Database Implementation</a:t>
            </a:r>
          </a:p>
          <a:p>
            <a:pPr algn="ctr">
              <a:spcAft>
                <a:spcPts val="700"/>
              </a:spcAft>
              <a:defRPr sz="1600" b="0">
                <a:solidFill>
                  <a:srgbClr val="5F6973"/>
                </a:solidFill>
                <a:latin typeface="Aptos"/>
              </a:defRPr>
            </a:pPr>
            <a:r>
              <a:rPr dirty="0"/>
              <a:t>Database Management Systems (2501IT05)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AC41EB-7A3D-2C74-AFA3-BB6E0F977C0F}"/>
              </a:ext>
            </a:extLst>
          </p:cNvPr>
          <p:cNvSpPr txBox="1"/>
          <p:nvPr/>
        </p:nvSpPr>
        <p:spPr>
          <a:xfrm>
            <a:off x="4296697" y="4031226"/>
            <a:ext cx="36379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P. KRISHNA KUMARI - 25B11AI863</a:t>
            </a:r>
          </a:p>
          <a:p>
            <a:r>
              <a:rPr lang="en-US" b="1" dirty="0"/>
              <a:t>P. MADHU SHALINI -  25B11AI957</a:t>
            </a:r>
          </a:p>
          <a:p>
            <a:r>
              <a:rPr lang="en-US" b="1" dirty="0"/>
              <a:t>S. TEJASWINI      - 25B11AIB52 </a:t>
            </a:r>
          </a:p>
          <a:p>
            <a:r>
              <a:rPr lang="en-US" b="1" dirty="0"/>
              <a:t>T. DEVI PHANITHA – 25B11AIB84</a:t>
            </a:r>
            <a:endParaRPr lang="en-IN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832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t>1. 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60704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dirty="0"/>
              <a:t>Centralized relational database for managing online shopping activities.</a:t>
            </a:r>
          </a:p>
          <a:p>
            <a:pPr lvl="0"/>
            <a:r>
              <a:rPr lang="en-IN" dirty="0"/>
              <a:t>Core entities: Customer, Product, Category, Cart, Order, Order Item, and Payment.</a:t>
            </a:r>
          </a:p>
          <a:p>
            <a:pPr lvl="0"/>
            <a:r>
              <a:rPr lang="en-IN" dirty="0"/>
              <a:t>Stores customer details, product information, prices, stock levels, and order history.</a:t>
            </a:r>
          </a:p>
          <a:p>
            <a:pPr lvl="0"/>
            <a:r>
              <a:rPr lang="en-IN" dirty="0"/>
              <a:t>Supports product browsing, customer registration, cart management, and order placement.</a:t>
            </a:r>
          </a:p>
          <a:p>
            <a:pPr lvl="0"/>
            <a:r>
              <a:rPr lang="en-IN" dirty="0"/>
              <a:t>Records payment details and tracks payment and order status.</a:t>
            </a:r>
          </a:p>
          <a:p>
            <a:pPr lvl="0"/>
            <a:r>
              <a:rPr lang="en-IN" dirty="0"/>
              <a:t>Updates product inventory when orders are placed or cancelled.</a:t>
            </a:r>
          </a:p>
          <a:p>
            <a:pPr lvl="0"/>
            <a:r>
              <a:rPr lang="en-IN" dirty="0"/>
              <a:t>Uses primary and foreign keys to connect related records.</a:t>
            </a:r>
          </a:p>
          <a:p>
            <a:pPr lvl="0"/>
            <a:r>
              <a:rPr lang="en-IN" dirty="0"/>
              <a:t>Applies normalization to reduce duplicate data and improve consistency.</a:t>
            </a:r>
          </a:p>
          <a:p>
            <a:pPr>
              <a:spcAft>
                <a:spcPts val="900"/>
              </a:spcAft>
              <a:defRPr sz="1800">
                <a:solidFill>
                  <a:srgbClr val="232323"/>
                </a:solidFill>
                <a:latin typeface="Aptos"/>
              </a:defRPr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t>2. Existing System and Proposed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05DF15-D978-A88A-F6CF-77194F86E9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122" y="1430692"/>
            <a:ext cx="11164037" cy="443665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9664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t>3. Functional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607040" cy="2569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dirty="0"/>
              <a:t>Customer Management – add, update, search, and display customer details.</a:t>
            </a:r>
          </a:p>
          <a:p>
            <a:pPr lvl="0"/>
            <a:r>
              <a:rPr lang="en-IN" dirty="0"/>
              <a:t>Product Management – maintain product names, descriptions, prices, categories, and stock quantities.</a:t>
            </a:r>
          </a:p>
          <a:p>
            <a:pPr lvl="0"/>
            <a:r>
              <a:rPr lang="en-IN" dirty="0"/>
              <a:t>Category Management – organize products into categories and maintain category information.</a:t>
            </a:r>
          </a:p>
          <a:p>
            <a:pPr lvl="0"/>
            <a:r>
              <a:rPr lang="en-IN" dirty="0"/>
              <a:t>Cart Management – add, update, and remove products in a customer’s shopping cart.</a:t>
            </a:r>
          </a:p>
          <a:p>
            <a:pPr lvl="0"/>
            <a:r>
              <a:rPr lang="en-IN" dirty="0"/>
              <a:t>Order Management – place orders and maintain order items, quantities, totals, and order status.</a:t>
            </a:r>
          </a:p>
          <a:p>
            <a:pPr lvl="0"/>
            <a:r>
              <a:rPr lang="en-IN" dirty="0"/>
              <a:t>Payment Management – record payment details and track payment status for each order.</a:t>
            </a:r>
          </a:p>
          <a:p>
            <a:pPr lvl="0"/>
            <a:r>
              <a:rPr lang="en-IN" dirty="0"/>
              <a:t>Inventory Management – monitor product stock and update quantities when orders are placed or cancelled.</a:t>
            </a:r>
          </a:p>
          <a:p>
            <a:pPr lvl="0"/>
            <a:r>
              <a:rPr lang="en-IN" dirty="0"/>
              <a:t>Search and Reporting – retrieve product, customer, order, sales, and inventory information using SQL queries.</a:t>
            </a:r>
          </a:p>
          <a:p>
            <a:pPr>
              <a:spcAft>
                <a:spcPts val="900"/>
              </a:spcAft>
              <a:defRPr sz="1700">
                <a:solidFill>
                  <a:srgbClr val="232323"/>
                </a:solidFill>
                <a:latin typeface="Aptos"/>
              </a:defRPr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dirty="0"/>
              <a:t>4. Database Schema Used for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FBC7AC-68FF-6EAE-6AAC-A30BBE56E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110" y="1481115"/>
            <a:ext cx="11208774" cy="475530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t>5. Table Design and Constraints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09C3BA-DB87-9139-D2F1-A280B03051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82852"/>
            <a:ext cx="10732401" cy="46909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832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dirty="0"/>
              <a:t>6. Normalization up to 3NF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60704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rPr lang="en-IN" dirty="0">
                <a:solidFill>
                  <a:srgbClr val="232323"/>
                </a:solidFill>
                <a:latin typeface="Aptos"/>
              </a:rPr>
              <a:t>UNF: Repeated product, category, customer, order, and payment information may occur in one record.</a:t>
            </a:r>
            <a:br>
              <a:rPr lang="en-IN" dirty="0">
                <a:solidFill>
                  <a:srgbClr val="232323"/>
                </a:solidFill>
                <a:latin typeface="Aptos"/>
              </a:rPr>
            </a:br>
            <a:r>
              <a:rPr lang="en-IN" dirty="0">
                <a:solidFill>
                  <a:srgbClr val="232323"/>
                </a:solidFill>
                <a:latin typeface="Aptos"/>
              </a:rPr>
              <a:t>1NF: Repeating groups are removed; each field contains a single value, and each ordered product is stored as a separate order item.</a:t>
            </a:r>
            <a:br>
              <a:rPr lang="en-IN" dirty="0">
                <a:solidFill>
                  <a:srgbClr val="232323"/>
                </a:solidFill>
                <a:latin typeface="Aptos"/>
              </a:rPr>
            </a:br>
            <a:r>
              <a:rPr lang="en-IN" dirty="0">
                <a:solidFill>
                  <a:srgbClr val="232323"/>
                </a:solidFill>
                <a:latin typeface="Aptos"/>
              </a:rPr>
              <a:t>2NF: Partial dependencies are removed by separating customer, product, order, and order-item information into related tables.</a:t>
            </a:r>
            <a:br>
              <a:rPr lang="en-IN" dirty="0">
                <a:solidFill>
                  <a:srgbClr val="232323"/>
                </a:solidFill>
                <a:latin typeface="Aptos"/>
              </a:rPr>
            </a:br>
            <a:r>
              <a:rPr lang="en-IN" dirty="0">
                <a:solidFill>
                  <a:srgbClr val="232323"/>
                </a:solidFill>
                <a:latin typeface="Aptos"/>
              </a:rPr>
              <a:t>3NF: Transitive dependencies are removed; category, customer, and payment details are stored in their own relations.</a:t>
            </a:r>
            <a:br>
              <a:rPr lang="en-IN" dirty="0">
                <a:solidFill>
                  <a:srgbClr val="232323"/>
                </a:solidFill>
                <a:latin typeface="Aptos"/>
              </a:rPr>
            </a:br>
            <a:r>
              <a:rPr lang="en-IN" dirty="0">
                <a:solidFill>
                  <a:srgbClr val="232323"/>
                </a:solidFill>
                <a:latin typeface="Aptos"/>
              </a:rPr>
              <a:t>Final relations</a:t>
            </a:r>
            <a:r>
              <a:rPr lang="en-IN" b="1" dirty="0">
                <a:solidFill>
                  <a:srgbClr val="232323"/>
                </a:solidFill>
                <a:latin typeface="Aptos"/>
              </a:rPr>
              <a:t>:</a:t>
            </a:r>
            <a:r>
              <a:rPr lang="en-IN" dirty="0">
                <a:solidFill>
                  <a:srgbClr val="232323"/>
                </a:solidFill>
                <a:latin typeface="Aptos"/>
              </a:rPr>
              <a:t> Customer, Category, Product, Cart, </a:t>
            </a:r>
            <a:r>
              <a:rPr lang="en-IN" dirty="0" err="1">
                <a:solidFill>
                  <a:srgbClr val="232323"/>
                </a:solidFill>
                <a:latin typeface="Aptos"/>
              </a:rPr>
              <a:t>Cart_Item</a:t>
            </a:r>
            <a:r>
              <a:rPr lang="en-IN" dirty="0">
                <a:solidFill>
                  <a:srgbClr val="232323"/>
                </a:solidFill>
                <a:latin typeface="Aptos"/>
              </a:rPr>
              <a:t>, Order, </a:t>
            </a:r>
            <a:r>
              <a:rPr lang="en-IN" dirty="0" err="1">
                <a:solidFill>
                  <a:srgbClr val="232323"/>
                </a:solidFill>
                <a:latin typeface="Aptos"/>
              </a:rPr>
              <a:t>Order_Item</a:t>
            </a:r>
            <a:r>
              <a:rPr lang="en-IN" dirty="0">
                <a:solidFill>
                  <a:srgbClr val="232323"/>
                </a:solidFill>
                <a:latin typeface="Aptos"/>
              </a:rPr>
              <a:t>, and Payment.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dirty="0"/>
              <a:t>7. SQL Implementation – DDL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60704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dirty="0"/>
              <a:t>Create the online shopping database using the selected DBMS.</a:t>
            </a:r>
          </a:p>
          <a:p>
            <a:pPr lvl="0"/>
            <a:r>
              <a:rPr lang="en-IN" dirty="0"/>
              <a:t>Create the tables: Customer, Category, Product, Cart, </a:t>
            </a:r>
            <a:r>
              <a:rPr lang="en-IN" dirty="0" err="1"/>
              <a:t>Cart_Item</a:t>
            </a:r>
            <a:r>
              <a:rPr lang="en-IN" dirty="0"/>
              <a:t>, Order, </a:t>
            </a:r>
            <a:r>
              <a:rPr lang="en-IN" dirty="0" err="1"/>
              <a:t>Order_Item</a:t>
            </a:r>
            <a:r>
              <a:rPr lang="en-IN" dirty="0"/>
              <a:t>, and Payment.</a:t>
            </a:r>
          </a:p>
          <a:p>
            <a:pPr lvl="0"/>
            <a:r>
              <a:rPr lang="en-IN" dirty="0"/>
              <a:t>Define Primary Keys to uniquely identify records in each table.</a:t>
            </a:r>
          </a:p>
          <a:p>
            <a:pPr lvl="0"/>
            <a:r>
              <a:rPr lang="en-IN" dirty="0"/>
              <a:t>Define Foreign Keys to link customers, products, carts, orders, and payments.</a:t>
            </a:r>
          </a:p>
          <a:p>
            <a:pPr lvl="0"/>
            <a:r>
              <a:rPr lang="en-IN" dirty="0"/>
              <a:t>Apply NOT NULL, UNIQUE, CHECK, and DEFAULT constraints where appropriate.</a:t>
            </a:r>
          </a:p>
          <a:p>
            <a:pPr lvl="0"/>
            <a:r>
              <a:rPr lang="en-IN" dirty="0"/>
              <a:t>Use ALTER TABLE to modify table definitions when needed.</a:t>
            </a:r>
          </a:p>
          <a:p>
            <a:pPr lvl="0"/>
            <a:r>
              <a:rPr lang="en-IN" dirty="0"/>
              <a:t>Include the actual SQL statements and their execution results in the final presentation.</a:t>
            </a:r>
          </a:p>
          <a:p>
            <a:pPr>
              <a:spcAft>
                <a:spcPts val="900"/>
              </a:spcAft>
              <a:defRPr sz="1800">
                <a:solidFill>
                  <a:srgbClr val="232323"/>
                </a:solidFill>
                <a:latin typeface="Aptos"/>
              </a:defRPr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dirty="0"/>
              <a:t>8. SQL Implementation – DML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60704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dirty="0"/>
              <a:t>Insert realistic sample records into all tables: Customer, Category, Product, Cart, Cart_Item, Orders, Order_Item, and Payment.</a:t>
            </a:r>
          </a:p>
          <a:p>
            <a:pPr lvl="0"/>
            <a:r>
              <a:rPr lang="en-IN" dirty="0"/>
              <a:t>Insert parent records before dependent records to satisfy foreign-key constraints.</a:t>
            </a:r>
          </a:p>
          <a:p>
            <a:pPr lvl="0"/>
            <a:r>
              <a:rPr lang="en-IN" dirty="0"/>
              <a:t>Use UPDATE statements to demonstrate changes, such as updating product stock or order status.</a:t>
            </a:r>
          </a:p>
          <a:p>
            <a:pPr lvl="0"/>
            <a:r>
              <a:rPr lang="en-IN" dirty="0"/>
              <a:t>Use DELETE statements to remove eligible records while respecting referential dependencies.</a:t>
            </a:r>
          </a:p>
          <a:p>
            <a:pPr lvl="0"/>
            <a:r>
              <a:rPr lang="en-IN" dirty="0"/>
              <a:t>Include the SQL statements and execution results in the final presentation.</a:t>
            </a:r>
          </a:p>
          <a:p>
            <a:pPr>
              <a:spcAft>
                <a:spcPts val="900"/>
              </a:spcAft>
              <a:defRPr sz="1800">
                <a:solidFill>
                  <a:srgbClr val="232323"/>
                </a:solidFill>
                <a:latin typeface="Aptos"/>
              </a:defRPr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dirty="0"/>
              <a:t>9. DQL – Data Retrieval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607040" cy="4293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rPr lang="en-US" dirty="0"/>
              <a:t>SELECT </a:t>
            </a:r>
            <a:r>
              <a:rPr lang="en-US" dirty="0" err="1"/>
              <a:t>Product_Name</a:t>
            </a:r>
            <a:r>
              <a:rPr lang="en-US" dirty="0"/>
              <a:t>, Price</a:t>
            </a:r>
          </a:p>
          <a:p>
            <a:pPr>
              <a:spcAft>
                <a:spcPts val="9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rPr lang="en-US" dirty="0"/>
              <a:t>FROM Product</a:t>
            </a:r>
          </a:p>
          <a:p>
            <a:pPr>
              <a:spcAft>
                <a:spcPts val="9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rPr lang="en-US" dirty="0"/>
              <a:t>WHERE Price &lt; 1000</a:t>
            </a:r>
          </a:p>
          <a:p>
            <a:pPr>
              <a:spcAft>
                <a:spcPts val="9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rPr lang="en-US" dirty="0"/>
              <a:t>ORDER BY Price ASC;SELECT DISTINCT </a:t>
            </a:r>
            <a:r>
              <a:rPr lang="en-US" dirty="0" err="1"/>
              <a:t>Category_Name</a:t>
            </a:r>
            <a:endParaRPr lang="en-US" dirty="0"/>
          </a:p>
          <a:p>
            <a:pPr>
              <a:spcAft>
                <a:spcPts val="9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rPr lang="en-US" dirty="0"/>
              <a:t>FROM Category;</a:t>
            </a:r>
          </a:p>
          <a:p>
            <a:pPr>
              <a:spcAft>
                <a:spcPts val="9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rPr lang="en-US" dirty="0"/>
              <a:t>SELECT </a:t>
            </a:r>
            <a:r>
              <a:rPr lang="en-US" dirty="0" err="1"/>
              <a:t>Product_Name</a:t>
            </a:r>
            <a:r>
              <a:rPr lang="en-US" dirty="0"/>
              <a:t>, Price</a:t>
            </a:r>
          </a:p>
          <a:p>
            <a:pPr>
              <a:spcAft>
                <a:spcPts val="9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rPr lang="en-US" dirty="0"/>
              <a:t>FROM Product</a:t>
            </a:r>
          </a:p>
          <a:p>
            <a:pPr>
              <a:spcAft>
                <a:spcPts val="9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rPr lang="en-US" dirty="0"/>
              <a:t>WHERE </a:t>
            </a:r>
            <a:r>
              <a:rPr lang="en-US" dirty="0" err="1"/>
              <a:t>Product_Name</a:t>
            </a:r>
            <a:r>
              <a:rPr lang="en-US" dirty="0"/>
              <a:t> LIKE '%wireless%’;</a:t>
            </a:r>
          </a:p>
          <a:p>
            <a:pPr>
              <a:spcAft>
                <a:spcPts val="9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rPr lang="en-US" dirty="0"/>
              <a:t>SELECT Name, Phone</a:t>
            </a:r>
          </a:p>
          <a:p>
            <a:pPr>
              <a:spcAft>
                <a:spcPts val="9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rPr lang="en-US" dirty="0"/>
              <a:t>FROM Customer</a:t>
            </a:r>
          </a:p>
          <a:p>
            <a:pPr>
              <a:spcAft>
                <a:spcPts val="9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rPr lang="en-US" dirty="0"/>
              <a:t>WHERE Phone IS NOT NULL;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dirty="0"/>
              <a:t>10. SQL Queries – Joins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60704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dirty="0"/>
              <a:t>Customer–Order: Display customer names with their order details.</a:t>
            </a:r>
          </a:p>
          <a:p>
            <a:pPr lvl="0"/>
            <a:r>
              <a:rPr lang="en-IN" dirty="0"/>
              <a:t>Product–Category: Display products with their category names.</a:t>
            </a:r>
          </a:p>
          <a:p>
            <a:pPr lvl="0"/>
            <a:r>
              <a:rPr lang="en-IN" dirty="0"/>
              <a:t>Cart–Cart Item–Product: Display each customer’s cart items and product details.</a:t>
            </a:r>
          </a:p>
          <a:p>
            <a:pPr lvl="0"/>
            <a:r>
              <a:rPr lang="en-IN" dirty="0"/>
              <a:t>Order–Order Item–Product: Display ordered products, quantities, and prices.</a:t>
            </a:r>
          </a:p>
          <a:p>
            <a:pPr lvl="0"/>
            <a:r>
              <a:rPr lang="en-IN" dirty="0"/>
              <a:t>Customer Order Payment: Combine Customer, Orders, and Payment to display order and payment details.</a:t>
            </a:r>
          </a:p>
          <a:p>
            <a:pPr>
              <a:spcAft>
                <a:spcPts val="900"/>
              </a:spcAft>
              <a:defRPr sz="1800">
                <a:solidFill>
                  <a:srgbClr val="232323"/>
                </a:solidFill>
                <a:latin typeface="Aptos"/>
              </a:defRPr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dirty="0"/>
              <a:t>11. SQL Queries – Aggregate Functions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607040" cy="229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dirty="0"/>
              <a:t>COUNT() – Count customers, products, or orders.</a:t>
            </a:r>
          </a:p>
          <a:p>
            <a:pPr lvl="0"/>
            <a:r>
              <a:rPr lang="en-IN" dirty="0"/>
              <a:t>AVG() – Calculate the average product price or order value.</a:t>
            </a:r>
          </a:p>
          <a:p>
            <a:pPr lvl="0"/>
            <a:r>
              <a:rPr lang="en-IN" dirty="0"/>
              <a:t>MAX() – Find the highest product price or largest order.</a:t>
            </a:r>
          </a:p>
          <a:p>
            <a:pPr lvl="0"/>
            <a:r>
              <a:rPr lang="en-IN" dirty="0"/>
              <a:t>MIN() – Find the lowest product price or smallest order.</a:t>
            </a:r>
          </a:p>
          <a:p>
            <a:pPr lvl="0"/>
            <a:r>
              <a:rPr lang="en-IN" dirty="0"/>
              <a:t>SUM() – Calculate total sales or total units sold.</a:t>
            </a:r>
          </a:p>
          <a:p>
            <a:pPr lvl="0"/>
            <a:r>
              <a:rPr lang="en-IN" dirty="0"/>
              <a:t>GROUP BY – Summarize orders by customer or sales by product category.</a:t>
            </a:r>
          </a:p>
          <a:p>
            <a:pPr lvl="0"/>
            <a:r>
              <a:rPr lang="en-IN" dirty="0"/>
              <a:t>HAVING – Filter grouped results, such as categories with sales above a chosen amount.</a:t>
            </a:r>
          </a:p>
          <a:p>
            <a:pPr>
              <a:spcAft>
                <a:spcPts val="900"/>
              </a:spcAft>
              <a:defRPr sz="1700">
                <a:solidFill>
                  <a:srgbClr val="232323"/>
                </a:solidFill>
                <a:latin typeface="Aptos"/>
              </a:defRPr>
            </a:pP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343998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dirty="0"/>
              <a:t>12. CRUD Operations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13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7F6FDB0-C5F5-AF65-1D85-D730C259D3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73161"/>
            <a:ext cx="9985150" cy="347078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dirty="0"/>
              <a:t>13. Views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60704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dirty="0"/>
              <a:t>Create views for frequently needed online shopping information.</a:t>
            </a:r>
          </a:p>
          <a:p>
            <a:pPr lvl="0"/>
            <a:r>
              <a:rPr lang="en-IN" dirty="0"/>
              <a:t>Customer Orders View: Show customer name, order ID, order date, total amount, and order status.</a:t>
            </a:r>
          </a:p>
          <a:p>
            <a:pPr lvl="0"/>
            <a:r>
              <a:rPr lang="en-IN" dirty="0"/>
              <a:t>Order Details View: Show order ID, product name, quantity, unit price, and subtotal.</a:t>
            </a:r>
          </a:p>
          <a:p>
            <a:pPr lvl="0"/>
            <a:r>
              <a:rPr lang="en-IN" dirty="0"/>
              <a:t>Product Catalog View: Show product name, category, price, and stock availability.</a:t>
            </a:r>
          </a:p>
          <a:p>
            <a:pPr lvl="0"/>
            <a:r>
              <a:rPr lang="en-IN" dirty="0"/>
              <a:t>Retrieve view data using SELECT statements.</a:t>
            </a:r>
          </a:p>
          <a:p>
            <a:pPr lvl="0"/>
            <a:r>
              <a:rPr lang="en-IN" dirty="0"/>
              <a:t>Views simplify common queries, combine related table data, and provide consistent information for reports.</a:t>
            </a:r>
          </a:p>
          <a:p>
            <a:pPr>
              <a:spcAft>
                <a:spcPts val="900"/>
              </a:spcAft>
              <a:defRPr sz="1800">
                <a:solidFill>
                  <a:srgbClr val="232323"/>
                </a:solidFill>
                <a:latin typeface="Aptos"/>
              </a:defRPr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dirty="0"/>
              <a:t>14. Data Integrity and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15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F29BAE-DA5F-0251-CD35-A135B1EB1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444" y="1624830"/>
            <a:ext cx="10288475" cy="400654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dirty="0"/>
              <a:t>15. SQL Output and Screenshots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60704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dirty="0"/>
              <a:t>Show screenshots of the online shopping database and its tables: Customer, Category, Product, Cart, Cart_Item, Orders, Order_Item, and Payment.</a:t>
            </a:r>
          </a:p>
          <a:p>
            <a:pPr lvl="0"/>
            <a:r>
              <a:rPr lang="en-IN" dirty="0"/>
              <a:t>Show sample customer, category, product, cart, order, and payment records.</a:t>
            </a:r>
          </a:p>
          <a:p>
            <a:pPr lvl="0"/>
            <a:r>
              <a:rPr lang="en-IN" dirty="0"/>
              <a:t>Include outputs for important DDL, DML, and DQL statements.</a:t>
            </a:r>
          </a:p>
          <a:p>
            <a:pPr lvl="0"/>
            <a:r>
              <a:rPr lang="en-IN" dirty="0"/>
              <a:t>Add screenshots of customer order joins, sales aggregates, CRUD operations, and database views.</a:t>
            </a:r>
          </a:p>
          <a:p>
            <a:pPr lvl="0"/>
            <a:r>
              <a:rPr lang="en-IN" dirty="0"/>
              <a:t>Show validation results, such as errors for duplicate customer emails or invalid product-category references.</a:t>
            </a:r>
          </a:p>
          <a:p>
            <a:pPr lvl="0"/>
            <a:r>
              <a:rPr lang="en-IN" dirty="0"/>
              <a:t>Replace all documentation placeholders with actual screenshots from the online shopping database.</a:t>
            </a:r>
          </a:p>
          <a:p>
            <a:pPr>
              <a:spcAft>
                <a:spcPts val="900"/>
              </a:spcAft>
              <a:defRPr sz="1800">
                <a:solidFill>
                  <a:srgbClr val="232323"/>
                </a:solidFill>
                <a:latin typeface="Aptos"/>
              </a:defRPr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dirty="0"/>
              <a:t>16. Query Coverage for Demonstration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17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9FE035-DF24-9E39-3B36-844044DDB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445" y="1459059"/>
            <a:ext cx="10579510" cy="440829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dirty="0"/>
              <a:t>17. Live Database Demonstration – Recommended Order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607040" cy="340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IN" dirty="0"/>
              <a:t>Open the online shopping database/schema.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Show the eight tables and their relationships: Customer, Category, Product, Cart, Cart_Item, Orders, Order_Item, and Payment.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Show table structures, primary keys, foreign keys, and constraints.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Display the inserted sample data.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Demonstrate DDL, DML, and DQL statements.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Demonstrate CRUD operations using shopping data.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Run joins and aggregate queries for orders, products, and sales.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Display a view, such as customer order details.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Demonstrate validation and data integrity constraints.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Explain normalization up to 3NF and answer questions.</a:t>
            </a:r>
          </a:p>
          <a:p>
            <a:pPr>
              <a:spcAft>
                <a:spcPts val="900"/>
              </a:spcAft>
              <a:defRPr sz="1700">
                <a:solidFill>
                  <a:srgbClr val="232323"/>
                </a:solidFill>
                <a:latin typeface="Aptos"/>
              </a:defRPr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dirty="0"/>
              <a:t>18.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60704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dirty="0"/>
              <a:t>The system organizes customer, product, category, cart, order, and payment information in a relational database.</a:t>
            </a:r>
          </a:p>
          <a:p>
            <a:pPr lvl="0"/>
            <a:r>
              <a:rPr lang="en-IN" dirty="0"/>
              <a:t>Related tables connect shopping records and reduce data duplication.</a:t>
            </a:r>
          </a:p>
          <a:p>
            <a:pPr lvl="0"/>
            <a:r>
              <a:rPr lang="en-IN" dirty="0"/>
              <a:t>Primary keys uniquely identify records, while foreign keys maintain relationships between tables.</a:t>
            </a:r>
          </a:p>
          <a:p>
            <a:pPr lvl="0"/>
            <a:r>
              <a:rPr lang="en-IN" dirty="0"/>
              <a:t>Constraints help prevent invalid prices, quantities, and incomplete required information.</a:t>
            </a:r>
          </a:p>
          <a:p>
            <a:pPr lvl="0"/>
            <a:r>
              <a:rPr lang="en-IN" dirty="0"/>
              <a:t>Normalization improves consistency by storing each type of information in the appropriate table.</a:t>
            </a:r>
          </a:p>
          <a:p>
            <a:pPr lvl="0"/>
            <a:r>
              <a:rPr lang="en-IN" dirty="0"/>
              <a:t>SQL queries support product searches, inventory checks, order tracking, and payment lookups.</a:t>
            </a:r>
          </a:p>
          <a:p>
            <a:pPr lvl="0"/>
            <a:r>
              <a:rPr lang="en-IN" dirty="0"/>
              <a:t>Joins combine related information, while aggregate functions help summarize sales and orders.</a:t>
            </a:r>
          </a:p>
          <a:p>
            <a:pPr>
              <a:spcAft>
                <a:spcPts val="900"/>
              </a:spcAft>
              <a:defRPr sz="1800">
                <a:solidFill>
                  <a:srgbClr val="232323"/>
                </a:solidFill>
                <a:latin typeface="Aptos"/>
              </a:defRPr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dirty="0"/>
              <a:t>19. Future Enhancements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607040" cy="2846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dirty="0"/>
              <a:t>Role-based access for customers, administrators, and other authorized users.</a:t>
            </a:r>
          </a:p>
          <a:p>
            <a:pPr lvl="0"/>
            <a:r>
              <a:rPr lang="en-IN" dirty="0"/>
              <a:t>Wishlist and product reviews so customers can save products and share feedback.</a:t>
            </a:r>
          </a:p>
          <a:p>
            <a:pPr lvl="0"/>
            <a:r>
              <a:rPr lang="en-IN" dirty="0"/>
              <a:t>Shipping and delivery tracking with shipment status updates.</a:t>
            </a:r>
          </a:p>
          <a:p>
            <a:pPr lvl="0"/>
            <a:r>
              <a:rPr lang="en-IN" dirty="0"/>
              <a:t>Discounts and promotions through coupons, offers, and loyalty points.</a:t>
            </a:r>
          </a:p>
          <a:p>
            <a:pPr lvl="0"/>
            <a:r>
              <a:rPr lang="en-IN" dirty="0"/>
              <a:t>Inventory alerts to notify administrators when stock is low.</a:t>
            </a:r>
          </a:p>
          <a:p>
            <a:pPr lvl="0"/>
            <a:r>
              <a:rPr lang="en-IN" dirty="0"/>
              <a:t>Sales dashboards and reports for tracking revenue, orders, and popular products.</a:t>
            </a:r>
          </a:p>
          <a:p>
            <a:pPr lvl="0"/>
            <a:r>
              <a:rPr lang="en-IN" dirty="0"/>
              <a:t>Multiple payment options with secure payment processing.</a:t>
            </a:r>
          </a:p>
          <a:p>
            <a:pPr lvl="0"/>
            <a:r>
              <a:rPr lang="en-IN" dirty="0"/>
              <a:t>Web or mobile application interface for convenient shopping across devices.</a:t>
            </a:r>
          </a:p>
          <a:p>
            <a:pPr lvl="0"/>
            <a:r>
              <a:rPr lang="en-IN" dirty="0"/>
              <a:t>Database backup, recovery, audit logging, and stronger security to protect shopping data.</a:t>
            </a:r>
          </a:p>
          <a:p>
            <a:pPr>
              <a:spcAft>
                <a:spcPts val="900"/>
              </a:spcAft>
              <a:defRPr sz="1700">
                <a:solidFill>
                  <a:srgbClr val="232323"/>
                </a:solidFill>
                <a:latin typeface="Aptos"/>
              </a:defRPr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dirty="0"/>
              <a:t>20. 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60704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dirty="0"/>
              <a:t>Silberschatz, A., Korth, H. F., and Sudarshan, S., </a:t>
            </a:r>
            <a:r>
              <a:rPr lang="en-IN" i="1" dirty="0"/>
              <a:t>Database System Concepts</a:t>
            </a:r>
            <a:r>
              <a:rPr lang="en-IN" dirty="0"/>
              <a:t>, McGraw Hill.</a:t>
            </a:r>
          </a:p>
          <a:p>
            <a:pPr lvl="0"/>
            <a:r>
              <a:rPr lang="en-IN" dirty="0"/>
              <a:t>Elmasri, R. and Navathe, S. B., </a:t>
            </a:r>
            <a:r>
              <a:rPr lang="en-IN" i="1" dirty="0"/>
              <a:t>Fundamentals of Database Systems</a:t>
            </a:r>
            <a:r>
              <a:rPr lang="en-IN" dirty="0"/>
              <a:t>, 7th edition, Pearson. </a:t>
            </a:r>
            <a:r>
              <a:rPr lang="en-IN" dirty="0">
                <a:hlinkClick r:id="rId2"/>
              </a:rPr>
              <a:t>Pearson</a:t>
            </a:r>
            <a:endParaRPr lang="en-IN" dirty="0"/>
          </a:p>
          <a:p>
            <a:pPr lvl="0"/>
            <a:r>
              <a:rPr lang="en-IN" dirty="0"/>
              <a:t>Oracle, </a:t>
            </a:r>
            <a:r>
              <a:rPr lang="en-IN" i="1" dirty="0"/>
              <a:t>MySQL 8.4 Reference Manual</a:t>
            </a:r>
            <a:r>
              <a:rPr lang="en-IN" dirty="0"/>
              <a:t>. </a:t>
            </a:r>
            <a:r>
              <a:rPr lang="en-IN" dirty="0">
                <a:hlinkClick r:id="rId3"/>
              </a:rPr>
              <a:t>MySQL Documentation</a:t>
            </a:r>
            <a:endParaRPr lang="en-IN" dirty="0"/>
          </a:p>
          <a:p>
            <a:pPr lvl="0"/>
            <a:r>
              <a:rPr lang="en-IN" dirty="0"/>
              <a:t>Course lecture notes, laboratory exercises, and approved DBMS learning resources.</a:t>
            </a:r>
          </a:p>
          <a:p>
            <a:pPr>
              <a:spcAft>
                <a:spcPts val="900"/>
              </a:spcAft>
              <a:defRPr sz="1800">
                <a:solidFill>
                  <a:srgbClr val="232323"/>
                </a:solidFill>
                <a:latin typeface="Aptos"/>
              </a:defRPr>
            </a:pP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A"/>
                </a:solidFill>
                <a:latin typeface="Aptos Display"/>
              </a:defRPr>
            </a:pPr>
            <a:r>
              <a:rPr dirty="0"/>
              <a:t>21. Final Review Checklist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972800" cy="32004"/>
          </a:xfrm>
          <a:prstGeom prst="rect">
            <a:avLst/>
          </a:prstGeom>
          <a:solidFill>
            <a:srgbClr val="27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973"/>
                </a:solidFill>
                <a:latin typeface="Aptos"/>
              </a:defRPr>
            </a:pPr>
            <a:r>
              <a:t>22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9EEF11-E352-9DD5-6A3D-761D15038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145"/>
            <a:ext cx="11283008" cy="48336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1486</Words>
  <Application>Microsoft Office PowerPoint</Application>
  <PresentationFormat>Widescreen</PresentationFormat>
  <Paragraphs>144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sriram suratthu</dc:creator>
  <cp:keywords/>
  <dc:description>generated using python-pptx</dc:description>
  <cp:lastModifiedBy>sriram suratthu</cp:lastModifiedBy>
  <cp:revision>3</cp:revision>
  <dcterms:created xsi:type="dcterms:W3CDTF">2013-01-27T09:14:16Z</dcterms:created>
  <dcterms:modified xsi:type="dcterms:W3CDTF">2026-10-24T09:37:19Z</dcterms:modified>
  <cp:category/>
</cp:coreProperties>
</file>
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9" r:id="rId2"/>
    <p:sldId id="257" r:id="rId3"/>
    <p:sldId id="270" r:id="rId4"/>
    <p:sldId id="258" r:id="rId5"/>
    <p:sldId id="259" r:id="rId6"/>
    <p:sldId id="260" r:id="rId7"/>
    <p:sldId id="261" r:id="rId8"/>
    <p:sldId id="272" r:id="rId9"/>
    <p:sldId id="262" r:id="rId10"/>
    <p:sldId id="268" r:id="rId11"/>
    <p:sldId id="274" r:id="rId12"/>
    <p:sldId id="267" r:id="rId13"/>
    <p:sldId id="265" r:id="rId14"/>
    <p:sldId id="266" r:id="rId15"/>
    <p:sldId id="27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595" autoAdjust="0"/>
  </p:normalViewPr>
  <p:slideViewPr>
    <p:cSldViewPr snapToGrid="0" snapToObjects="1">
      <p:cViewPr varScale="1">
        <p:scale>
          <a:sx n="77" d="100"/>
          <a:sy n="77" d="100"/>
        </p:scale>
        <p:origin x="91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19A046-60D8-4238-BF51-8C6069F617A3}" type="datetimeFigureOut">
              <a:rPr lang="en-IN" smtClean="0"/>
              <a:t>11-08-2026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2C8A66-69BF-4F14-9280-1D46BD976515}" type="slidenum">
              <a:rPr lang="en-IN" smtClean="0"/>
              <a:t>‹#›</a:t>
            </a:fld>
            <a:endParaRPr lang="en-IN"/>
          </a:p>
        </p:txBody>
      </p:sp>
    </p:spTree>
    <p:extLst>
      <p:ext uri="{BB962C8B-B14F-4D97-AF65-F5344CB8AC3E}">
        <p14:creationId xmlns:p14="http://schemas.microsoft.com/office/powerpoint/2010/main" val="272551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 name="Google Shape;32;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3" name="Google Shape;33;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b="1" dirty="0"/>
          </a:p>
        </p:txBody>
      </p:sp>
      <p:sp>
        <p:nvSpPr>
          <p:cNvPr id="4" name="Slide Number Placeholder 3"/>
          <p:cNvSpPr>
            <a:spLocks noGrp="1"/>
          </p:cNvSpPr>
          <p:nvPr>
            <p:ph type="sldNum" sz="quarter" idx="5"/>
          </p:nvPr>
        </p:nvSpPr>
        <p:spPr/>
        <p:txBody>
          <a:bodyPr/>
          <a:lstStyle/>
          <a:p>
            <a:fld id="{F82C8A66-69BF-4F14-9280-1D46BD976515}" type="slidenum">
              <a:rPr lang="en-IN" smtClean="0"/>
              <a:t>7</a:t>
            </a:fld>
            <a:endParaRPr lang="en-IN"/>
          </a:p>
        </p:txBody>
      </p:sp>
    </p:spTree>
    <p:extLst>
      <p:ext uri="{BB962C8B-B14F-4D97-AF65-F5344CB8AC3E}">
        <p14:creationId xmlns:p14="http://schemas.microsoft.com/office/powerpoint/2010/main" val="410174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sp>
        <p:nvSpPr>
          <p:cNvPr id="35" name="Google Shape;35;p1"/>
          <p:cNvSpPr txBox="1"/>
          <p:nvPr/>
        </p:nvSpPr>
        <p:spPr>
          <a:xfrm>
            <a:off x="1040202" y="935443"/>
            <a:ext cx="10696612" cy="1944216"/>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None/>
            </a:pPr>
            <a:endParaRPr sz="4000" b="0" i="0" u="none" strike="noStrike" cap="none" dirty="0">
              <a:solidFill>
                <a:srgbClr val="00B050"/>
              </a:solidFill>
              <a:latin typeface="Times New Roman" panose="02020603050405020304" pitchFamily="18" charset="0"/>
              <a:ea typeface="Times New Roman"/>
              <a:cs typeface="Times New Roman" panose="02020603050405020304" pitchFamily="18" charset="0"/>
              <a:sym typeface="Times New Roman"/>
            </a:endParaRPr>
          </a:p>
        </p:txBody>
      </p:sp>
      <p:sp>
        <p:nvSpPr>
          <p:cNvPr id="37" name="Google Shape;37;p1"/>
          <p:cNvSpPr/>
          <p:nvPr/>
        </p:nvSpPr>
        <p:spPr>
          <a:xfrm>
            <a:off x="510209" y="3399642"/>
            <a:ext cx="5313719" cy="923289"/>
          </a:xfrm>
          <a:prstGeom prst="rect">
            <a:avLst/>
          </a:prstGeom>
          <a:noFill/>
          <a:ln>
            <a:noFill/>
          </a:ln>
        </p:spPr>
        <p:txBody>
          <a:bodyPr spcFirstLastPara="1" wrap="square" lIns="91425" tIns="45700" rIns="91425" bIns="45700" anchor="t" anchorCtr="0">
            <a:spAutoFit/>
          </a:bodyPr>
          <a:lstStyle/>
          <a:p>
            <a:pPr marL="285750" indent="-285750">
              <a:lnSpc>
                <a:spcPct val="150000"/>
              </a:lnSpc>
              <a:buClr>
                <a:schemeClr val="dk1"/>
              </a:buClr>
              <a:buSzPts val="1800"/>
              <a:buFont typeface="Arial"/>
              <a:buChar char="•"/>
            </a:pPr>
            <a:r>
              <a:rPr lang="en-US" sz="1800" dirty="0">
                <a:cs typeface="Times New Roman" panose="02020603050405020304" pitchFamily="18" charset="0"/>
              </a:rPr>
              <a:t>25B11AI863 </a:t>
            </a:r>
            <a:r>
              <a:rPr lang="en-US" dirty="0">
                <a:cs typeface="Times New Roman" panose="02020603050405020304" pitchFamily="18" charset="0"/>
              </a:rPr>
              <a:t>-</a:t>
            </a:r>
            <a:r>
              <a:rPr lang="en-US" sz="1800" dirty="0">
                <a:cs typeface="Times New Roman" panose="02020603050405020304" pitchFamily="18" charset="0"/>
              </a:rPr>
              <a:t> </a:t>
            </a:r>
            <a:r>
              <a:rPr lang="en-US" dirty="0">
                <a:cs typeface="Times New Roman" panose="02020603050405020304" pitchFamily="18" charset="0"/>
              </a:rPr>
              <a:t>P Krishna Kumari </a:t>
            </a:r>
            <a:r>
              <a:rPr lang="en-US" sz="1800" dirty="0">
                <a:cs typeface="Times New Roman" panose="02020603050405020304" pitchFamily="18" charset="0"/>
              </a:rPr>
              <a:t>-  AIML</a:t>
            </a:r>
          </a:p>
          <a:p>
            <a:pPr marL="285750" indent="-285750">
              <a:lnSpc>
                <a:spcPct val="150000"/>
              </a:lnSpc>
              <a:buClr>
                <a:schemeClr val="dk1"/>
              </a:buClr>
              <a:buSzPts val="1800"/>
              <a:buFont typeface="Arial"/>
              <a:buChar char="•"/>
            </a:pPr>
            <a:r>
              <a:rPr lang="en-US" sz="1800" dirty="0">
                <a:ea typeface="Glegoo"/>
                <a:cs typeface="Times New Roman" panose="02020603050405020304" pitchFamily="18" charset="0"/>
                <a:sym typeface="Glegoo"/>
              </a:rPr>
              <a:t>25B11AI957  - </a:t>
            </a:r>
            <a:r>
              <a:rPr lang="en-US" dirty="0">
                <a:ea typeface="Glegoo"/>
                <a:cs typeface="Times New Roman" panose="02020603050405020304" pitchFamily="18" charset="0"/>
                <a:sym typeface="Glegoo"/>
              </a:rPr>
              <a:t>P Madhu Shalini </a:t>
            </a:r>
            <a:r>
              <a:rPr lang="en-US" sz="1800" dirty="0">
                <a:ea typeface="Glegoo"/>
                <a:cs typeface="Times New Roman" panose="02020603050405020304" pitchFamily="18" charset="0"/>
                <a:sym typeface="Glegoo"/>
              </a:rPr>
              <a:t>-  AIML</a:t>
            </a:r>
            <a:endParaRPr sz="1800" b="0" i="0" u="none" strike="noStrike" cap="none" dirty="0">
              <a:solidFill>
                <a:schemeClr val="dk1"/>
              </a:solidFill>
              <a:ea typeface="Times New Roman"/>
              <a:cs typeface="Times New Roman" panose="02020603050405020304" pitchFamily="18" charset="0"/>
              <a:sym typeface="Times New Roman"/>
            </a:endParaRPr>
          </a:p>
        </p:txBody>
      </p:sp>
      <p:sp>
        <p:nvSpPr>
          <p:cNvPr id="38" name="Google Shape;38;p1"/>
          <p:cNvSpPr txBox="1"/>
          <p:nvPr/>
        </p:nvSpPr>
        <p:spPr>
          <a:xfrm>
            <a:off x="431551" y="-80770"/>
            <a:ext cx="11171582" cy="981379"/>
          </a:xfrm>
          <a:prstGeom prst="rect">
            <a:avLst/>
          </a:prstGeom>
          <a:noFill/>
          <a:ln>
            <a:noFill/>
          </a:ln>
        </p:spPr>
        <p:txBody>
          <a:bodyPr spcFirstLastPara="1" wrap="square" lIns="91425" tIns="45700" rIns="91425" bIns="45700" anchor="b" anchorCtr="0">
            <a:noAutofit/>
          </a:bodyPr>
          <a:lstStyle/>
          <a:p>
            <a:pPr lvl="0" algn="ctr"/>
            <a:r>
              <a:rPr lang="en-US" sz="3200" b="1" dirty="0">
                <a:latin typeface="Times New Roman" panose="02020603050405020304" pitchFamily="18" charset="0"/>
                <a:cs typeface="Times New Roman" panose="02020603050405020304" pitchFamily="18" charset="0"/>
              </a:rPr>
              <a:t>ONLINE SHOPPING SYSTEM </a:t>
            </a:r>
          </a:p>
        </p:txBody>
      </p:sp>
      <p:sp>
        <p:nvSpPr>
          <p:cNvPr id="39" name="Google Shape;39;p1"/>
          <p:cNvSpPr/>
          <p:nvPr/>
        </p:nvSpPr>
        <p:spPr>
          <a:xfrm>
            <a:off x="3417317" y="5183913"/>
            <a:ext cx="5509546" cy="1477287"/>
          </a:xfrm>
          <a:prstGeom prst="rect">
            <a:avLst/>
          </a:prstGeom>
          <a:noFill/>
          <a:ln>
            <a:noFill/>
          </a:ln>
        </p:spPr>
        <p:txBody>
          <a:bodyPr spcFirstLastPara="1" wrap="square" lIns="91425" tIns="45700" rIns="91425" bIns="45700" anchor="t" anchorCtr="0">
            <a:spAutoFit/>
          </a:bodyPr>
          <a:lstStyle/>
          <a:p>
            <a:pPr lvl="0" algn="ctr"/>
            <a:r>
              <a:rPr lang="en-US" sz="1800" dirty="0">
                <a:solidFill>
                  <a:schemeClr val="dk1"/>
                </a:solidFill>
                <a:ea typeface="Times New Roman"/>
                <a:cs typeface="Times New Roman" panose="02020603050405020304" pitchFamily="18" charset="0"/>
                <a:sym typeface="Times New Roman"/>
              </a:rPr>
              <a:t>Under esteemed guidance of</a:t>
            </a:r>
            <a:endParaRPr lang="en-US" sz="1800" dirty="0">
              <a:cs typeface="Times New Roman" panose="02020603050405020304" pitchFamily="18" charset="0"/>
            </a:endParaRPr>
          </a:p>
          <a:p>
            <a:pPr algn="ctr"/>
            <a:r>
              <a:rPr lang="en-US" sz="1800" noProof="1">
                <a:cs typeface="Times New Roman" panose="02020603050405020304" pitchFamily="18" charset="0"/>
              </a:rPr>
              <a:t>      </a:t>
            </a:r>
            <a:r>
              <a:rPr lang="en-US" sz="1800" b="1" noProof="1">
                <a:cs typeface="Times New Roman" panose="02020603050405020304" pitchFamily="18" charset="0"/>
              </a:rPr>
              <a:t>Dr P Kishorekumar</a:t>
            </a:r>
            <a:r>
              <a:rPr lang="en-US" sz="1800" noProof="1">
                <a:cs typeface="Times New Roman" panose="02020603050405020304" pitchFamily="18" charset="0"/>
              </a:rPr>
              <a:t>  </a:t>
            </a:r>
          </a:p>
          <a:p>
            <a:pPr algn="ctr"/>
            <a:r>
              <a:rPr lang="en-US" sz="1800" noProof="1">
                <a:cs typeface="Times New Roman" panose="02020603050405020304" pitchFamily="18" charset="0"/>
              </a:rPr>
              <a:t>        </a:t>
            </a:r>
            <a:r>
              <a:rPr lang="en-US" sz="1800" dirty="0">
                <a:cs typeface="Times New Roman" panose="02020603050405020304" pitchFamily="18" charset="0"/>
              </a:rPr>
              <a:t>Associate Professor </a:t>
            </a:r>
            <a:endParaRPr lang="en-US" dirty="0">
              <a:cs typeface="Times New Roman" panose="02020603050405020304" pitchFamily="18" charset="0"/>
            </a:endParaRPr>
          </a:p>
          <a:p>
            <a:pPr algn="ctr"/>
            <a:r>
              <a:rPr lang="en-US" sz="1800" dirty="0">
                <a:cs typeface="Times New Roman" panose="02020603050405020304" pitchFamily="18" charset="0"/>
              </a:rPr>
              <a:t>         Department of AIML</a:t>
            </a:r>
          </a:p>
          <a:p>
            <a:pPr algn="ctr"/>
            <a:r>
              <a:rPr lang="en-US" b="1" dirty="0">
                <a:cs typeface="Times New Roman" panose="02020603050405020304" pitchFamily="18" charset="0"/>
              </a:rPr>
              <a:t>Aditya University</a:t>
            </a:r>
            <a:r>
              <a:rPr lang="en-US" sz="1800" b="1" dirty="0">
                <a:cs typeface="Times New Roman" panose="02020603050405020304" pitchFamily="18" charset="0"/>
              </a:rPr>
              <a:t> </a:t>
            </a:r>
            <a:endParaRPr sz="1800" b="1" dirty="0">
              <a:solidFill>
                <a:schemeClr val="dk1"/>
              </a:solidFill>
              <a:ea typeface="Times New Roman"/>
              <a:cs typeface="Times New Roman" panose="02020603050405020304" pitchFamily="18" charset="0"/>
              <a:sym typeface="Times New Roman"/>
            </a:endParaRPr>
          </a:p>
        </p:txBody>
      </p:sp>
      <p:sp>
        <p:nvSpPr>
          <p:cNvPr id="40" name="Google Shape;40;p1"/>
          <p:cNvSpPr txBox="1"/>
          <p:nvPr/>
        </p:nvSpPr>
        <p:spPr>
          <a:xfrm>
            <a:off x="3048719" y="1822401"/>
            <a:ext cx="6094562"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C55A11"/>
                </a:solidFill>
                <a:latin typeface="Times New Roman" panose="02020603050405020304" pitchFamily="18" charset="0"/>
                <a:ea typeface="Times New Roman"/>
                <a:cs typeface="Times New Roman" panose="02020603050405020304" pitchFamily="18" charset="0"/>
                <a:sym typeface="Times New Roman"/>
              </a:rPr>
              <a:t>BATCH NUMBER:</a:t>
            </a:r>
            <a:r>
              <a:rPr lang="en-US" b="1" dirty="0">
                <a:solidFill>
                  <a:srgbClr val="C55A11"/>
                </a:solidFill>
                <a:latin typeface="Times New Roman" panose="02020603050405020304" pitchFamily="18" charset="0"/>
                <a:ea typeface="Times New Roman"/>
                <a:cs typeface="Times New Roman" panose="02020603050405020304" pitchFamily="18" charset="0"/>
                <a:sym typeface="Times New Roman"/>
              </a:rPr>
              <a:t>4</a:t>
            </a:r>
          </a:p>
          <a:p>
            <a:pPr marL="0" marR="0" lvl="0" indent="0" algn="ctr" rtl="0">
              <a:spcBef>
                <a:spcPts val="0"/>
              </a:spcBef>
              <a:spcAft>
                <a:spcPts val="0"/>
              </a:spcAft>
              <a:buNone/>
            </a:pPr>
            <a:endParaRPr lang="en-US" sz="1800" b="1" dirty="0">
              <a:solidFill>
                <a:srgbClr val="C55A11"/>
              </a:solidFill>
              <a:latin typeface="Times New Roman" panose="02020603050405020304" pitchFamily="18" charset="0"/>
              <a:ea typeface="Times New Roman"/>
              <a:cs typeface="Times New Roman" panose="02020603050405020304" pitchFamily="18" charset="0"/>
              <a:sym typeface="Times New Roman"/>
            </a:endParaRPr>
          </a:p>
        </p:txBody>
      </p:sp>
      <p:sp>
        <p:nvSpPr>
          <p:cNvPr id="3" name="TextBox 2">
            <a:extLst>
              <a:ext uri="{FF2B5EF4-FFF2-40B4-BE49-F238E27FC236}">
                <a16:creationId xmlns:a16="http://schemas.microsoft.com/office/drawing/2014/main" id="{DD158670-A8AA-3218-2073-358DE669C57F}"/>
              </a:ext>
            </a:extLst>
          </p:cNvPr>
          <p:cNvSpPr txBox="1"/>
          <p:nvPr/>
        </p:nvSpPr>
        <p:spPr>
          <a:xfrm>
            <a:off x="6263148" y="3146928"/>
            <a:ext cx="5812895" cy="1295868"/>
          </a:xfrm>
          <a:prstGeom prst="rect">
            <a:avLst/>
          </a:prstGeom>
          <a:noFill/>
        </p:spPr>
        <p:txBody>
          <a:bodyPr wrap="square">
            <a:spAutoFit/>
          </a:bodyPr>
          <a:lstStyle/>
          <a:p>
            <a:pPr marL="285750" indent="-285750">
              <a:lnSpc>
                <a:spcPct val="150000"/>
              </a:lnSpc>
              <a:buClr>
                <a:schemeClr val="dk1"/>
              </a:buClr>
              <a:buSzPts val="1800"/>
              <a:buFont typeface="Arial"/>
              <a:buChar char="•"/>
            </a:pPr>
            <a:r>
              <a:rPr lang="en-US" sz="1800" dirty="0">
                <a:cs typeface="Times New Roman" panose="02020603050405020304" pitchFamily="18" charset="0"/>
              </a:rPr>
              <a:t>25B11AIB52 - S Tejaswini - AIML</a:t>
            </a:r>
          </a:p>
          <a:p>
            <a:pPr marL="285750" indent="-285750">
              <a:lnSpc>
                <a:spcPct val="150000"/>
              </a:lnSpc>
              <a:buClr>
                <a:schemeClr val="dk1"/>
              </a:buClr>
              <a:buSzPts val="1800"/>
              <a:buFont typeface="Arial"/>
              <a:buChar char="•"/>
            </a:pPr>
            <a:r>
              <a:rPr lang="en-US" dirty="0">
                <a:cs typeface="Times New Roman" panose="02020603050405020304" pitchFamily="18" charset="0"/>
              </a:rPr>
              <a:t>25B11AIB84</a:t>
            </a:r>
            <a:r>
              <a:rPr lang="en-US" sz="1800" dirty="0">
                <a:cs typeface="Times New Roman" panose="02020603050405020304" pitchFamily="18" charset="0"/>
              </a:rPr>
              <a:t>   - T</a:t>
            </a:r>
            <a:r>
              <a:rPr lang="en-US" dirty="0">
                <a:cs typeface="Times New Roman" panose="02020603050405020304" pitchFamily="18" charset="0"/>
              </a:rPr>
              <a:t> </a:t>
            </a:r>
            <a:r>
              <a:rPr lang="en-US" sz="1800" dirty="0">
                <a:cs typeface="Times New Roman" panose="02020603050405020304" pitchFamily="18" charset="0"/>
              </a:rPr>
              <a:t>Devi </a:t>
            </a:r>
            <a:r>
              <a:rPr lang="en-US" sz="1800" dirty="0" err="1">
                <a:cs typeface="Times New Roman" panose="02020603050405020304" pitchFamily="18" charset="0"/>
              </a:rPr>
              <a:t>Phanitha</a:t>
            </a:r>
            <a:r>
              <a:rPr lang="en-US" sz="1800" dirty="0">
                <a:cs typeface="Times New Roman" panose="02020603050405020304" pitchFamily="18" charset="0"/>
              </a:rPr>
              <a:t> -  AIML</a:t>
            </a:r>
          </a:p>
          <a:p>
            <a:pPr marL="285750" indent="-285750">
              <a:lnSpc>
                <a:spcPct val="150000"/>
              </a:lnSpc>
              <a:buClr>
                <a:schemeClr val="dk1"/>
              </a:buClr>
              <a:buSzPts val="1800"/>
              <a:buFont typeface="Arial"/>
              <a:buChar char="•"/>
            </a:pPr>
            <a:r>
              <a:rPr lang="en-US" dirty="0">
                <a:cs typeface="Times New Roman" panose="02020603050405020304" pitchFamily="18" charset="0"/>
              </a:rPr>
              <a:t>25B11AI128 – </a:t>
            </a:r>
            <a:r>
              <a:rPr lang="en-US" dirty="0" err="1">
                <a:cs typeface="Times New Roman" panose="02020603050405020304" pitchFamily="18" charset="0"/>
              </a:rPr>
              <a:t>Bh</a:t>
            </a:r>
            <a:r>
              <a:rPr lang="en-US" dirty="0">
                <a:cs typeface="Times New Roman" panose="02020603050405020304" pitchFamily="18" charset="0"/>
              </a:rPr>
              <a:t> Sai Anusri Varma - AIML</a:t>
            </a:r>
            <a:endParaRPr lang="en-US" sz="1800" dirty="0">
              <a:cs typeface="Times New Roman" panose="02020603050405020304" pitchFamily="18" charset="0"/>
            </a:endParaRPr>
          </a:p>
        </p:txBody>
      </p:sp>
      <p:sp>
        <p:nvSpPr>
          <p:cNvPr id="5" name="Google Shape;38;p1">
            <a:extLst>
              <a:ext uri="{FF2B5EF4-FFF2-40B4-BE49-F238E27FC236}">
                <a16:creationId xmlns:a16="http://schemas.microsoft.com/office/drawing/2014/main" id="{D79B6CE0-1CFE-BEA9-E668-0581191B59D1}"/>
              </a:ext>
            </a:extLst>
          </p:cNvPr>
          <p:cNvSpPr txBox="1"/>
          <p:nvPr/>
        </p:nvSpPr>
        <p:spPr>
          <a:xfrm>
            <a:off x="747694" y="707054"/>
            <a:ext cx="10696612" cy="981379"/>
          </a:xfrm>
          <a:prstGeom prst="rect">
            <a:avLst/>
          </a:prstGeom>
          <a:noFill/>
          <a:ln>
            <a:noFill/>
          </a:ln>
        </p:spPr>
        <p:txBody>
          <a:bodyPr spcFirstLastPara="1" wrap="square" lIns="91425" tIns="45700" rIns="91425" bIns="45700" anchor="b" anchorCtr="0">
            <a:noAutofit/>
          </a:bodyPr>
          <a:lstStyle/>
          <a:p>
            <a:pPr lvl="0" algn="ctr"/>
            <a:r>
              <a:rPr lang="en-US" sz="2400" b="1" dirty="0">
                <a:latin typeface="Times New Roman" panose="02020603050405020304" pitchFamily="18" charset="0"/>
                <a:cs typeface="Times New Roman" panose="02020603050405020304" pitchFamily="18" charset="0"/>
              </a:rPr>
              <a:t> Capstone Project review -1</a:t>
            </a:r>
            <a:endParaRPr lang="en-US" sz="2400" b="1" i="0" u="none" strike="noStrike" cap="none" dirty="0">
              <a:solidFill>
                <a:srgbClr val="00B050"/>
              </a:solidFill>
              <a:latin typeface="Times New Roman" panose="02020603050405020304" pitchFamily="18" charset="0"/>
              <a:ea typeface="Times New Roman"/>
              <a:cs typeface="Times New Roman" panose="02020603050405020304" pitchFamily="18" charset="0"/>
              <a:sym typeface="Times New Roman"/>
            </a:endParaRPr>
          </a:p>
        </p:txBody>
      </p:sp>
      <p:sp>
        <p:nvSpPr>
          <p:cNvPr id="7" name="TextBox 6">
            <a:extLst>
              <a:ext uri="{FF2B5EF4-FFF2-40B4-BE49-F238E27FC236}">
                <a16:creationId xmlns:a16="http://schemas.microsoft.com/office/drawing/2014/main" id="{80884784-D49C-3636-BF62-6FCF2283BFA8}"/>
              </a:ext>
            </a:extLst>
          </p:cNvPr>
          <p:cNvSpPr txBox="1"/>
          <p:nvPr/>
        </p:nvSpPr>
        <p:spPr>
          <a:xfrm>
            <a:off x="5216086" y="2647223"/>
            <a:ext cx="1759827" cy="464871"/>
          </a:xfrm>
          <a:prstGeom prst="rect">
            <a:avLst/>
          </a:prstGeom>
          <a:noFill/>
        </p:spPr>
        <p:txBody>
          <a:bodyPr wrap="square">
            <a:spAutoFit/>
          </a:bodyPr>
          <a:lstStyle/>
          <a:p>
            <a:pPr lvl="0">
              <a:lnSpc>
                <a:spcPct val="150000"/>
              </a:lnSpc>
            </a:pPr>
            <a:r>
              <a:rPr lang="en-US" sz="1800" b="1" dirty="0">
                <a:solidFill>
                  <a:schemeClr val="dk1"/>
                </a:solidFill>
                <a:ea typeface="Times New Roman"/>
                <a:cs typeface="Times New Roman" panose="02020603050405020304" pitchFamily="18" charset="0"/>
                <a:sym typeface="Times New Roman"/>
              </a:rPr>
              <a:t>Presented by:</a:t>
            </a:r>
            <a:r>
              <a:rPr lang="en-US" sz="1800" dirty="0">
                <a:solidFill>
                  <a:schemeClr val="dk1"/>
                </a:solidFill>
                <a:ea typeface="Times New Roman"/>
                <a:cs typeface="Times New Roman" panose="02020603050405020304" pitchFamily="18" charset="0"/>
                <a:sym typeface="Times New Roman"/>
              </a:rPr>
              <a:t>  </a:t>
            </a:r>
            <a:endParaRPr lang="en-US" sz="1800" dirty="0">
              <a:cs typeface="Times New Roman" panose="02020603050405020304" pitchFamily="18" charset="0"/>
            </a:endParaRPr>
          </a:p>
        </p:txBody>
      </p:sp>
      <p:sp>
        <p:nvSpPr>
          <p:cNvPr id="9" name="TextBox 8">
            <a:extLst>
              <a:ext uri="{FF2B5EF4-FFF2-40B4-BE49-F238E27FC236}">
                <a16:creationId xmlns:a16="http://schemas.microsoft.com/office/drawing/2014/main" id="{E6B1276D-B10D-06EA-0875-9796C7A3C6A3}"/>
              </a:ext>
            </a:extLst>
          </p:cNvPr>
          <p:cNvSpPr txBox="1"/>
          <p:nvPr/>
        </p:nvSpPr>
        <p:spPr>
          <a:xfrm>
            <a:off x="3048719" y="4547312"/>
            <a:ext cx="6246742" cy="369332"/>
          </a:xfrm>
          <a:prstGeom prst="rect">
            <a:avLst/>
          </a:prstGeom>
          <a:noFill/>
        </p:spPr>
        <p:txBody>
          <a:bodyPr wrap="square">
            <a:spAutoFit/>
          </a:bodyPr>
          <a:lstStyle/>
          <a:p>
            <a:pPr marL="0" marR="0" lvl="0" indent="0" algn="ctr" rtl="0">
              <a:spcBef>
                <a:spcPts val="0"/>
              </a:spcBef>
              <a:spcAft>
                <a:spcPts val="0"/>
              </a:spcAft>
              <a:buNone/>
            </a:pPr>
            <a:r>
              <a:rPr lang="en-US" dirty="0">
                <a:latin typeface="Times New Roman" panose="02020603050405020304" pitchFamily="18" charset="0"/>
                <a:cs typeface="Times New Roman" panose="02020603050405020304" pitchFamily="18" charset="0"/>
                <a:sym typeface="Times New Roman"/>
              </a:rPr>
              <a:t>Academic Year: 2026-2027</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94360" y="320040"/>
            <a:ext cx="1313180" cy="523220"/>
          </a:xfrm>
          <a:prstGeom prst="rect">
            <a:avLst/>
          </a:prstGeom>
          <a:noFill/>
        </p:spPr>
        <p:txBody>
          <a:bodyPr wrap="none">
            <a:spAutoFit/>
          </a:bodyPr>
          <a:lstStyle/>
          <a:p>
            <a:pPr>
              <a:defRPr sz="2800" b="1">
                <a:solidFill>
                  <a:srgbClr val="182D4A"/>
                </a:solidFill>
                <a:latin typeface="Aptos Display"/>
              </a:defRPr>
            </a:pPr>
            <a:r>
              <a:rPr lang="en-US" dirty="0"/>
              <a:t>Outline</a:t>
            </a:r>
            <a:endParaRPr dirty="0"/>
          </a:p>
        </p:txBody>
      </p:sp>
      <p:sp>
        <p:nvSpPr>
          <p:cNvPr id="4" name="Rectangle 3"/>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417320"/>
            <a:ext cx="10515600" cy="4324261"/>
          </a:xfrm>
          <a:prstGeom prst="rect">
            <a:avLst/>
          </a:prstGeom>
          <a:noFill/>
        </p:spPr>
        <p:txBody>
          <a:bodyPr wrap="square">
            <a:spAutoFit/>
          </a:bodyPr>
          <a:lstStyle/>
          <a:p>
            <a:pPr marL="342900" indent="-342900">
              <a:spcAft>
                <a:spcPts val="1000"/>
              </a:spcAft>
              <a:buFont typeface="Arial" panose="020B0604020202020204" pitchFamily="34" charset="0"/>
              <a:buChar char="•"/>
              <a:defRPr sz="2000" b="0">
                <a:solidFill>
                  <a:srgbClr val="232323"/>
                </a:solidFill>
                <a:latin typeface="Aptos"/>
              </a:defRPr>
            </a:pPr>
            <a:r>
              <a:rPr lang="en-US" dirty="0"/>
              <a:t>Introduction</a:t>
            </a:r>
          </a:p>
          <a:p>
            <a:pPr marL="342900" indent="-342900">
              <a:spcAft>
                <a:spcPts val="1000"/>
              </a:spcAft>
              <a:buFont typeface="Arial" panose="020B0604020202020204" pitchFamily="34" charset="0"/>
              <a:buChar char="•"/>
              <a:defRPr sz="2000" b="0">
                <a:solidFill>
                  <a:srgbClr val="232323"/>
                </a:solidFill>
                <a:latin typeface="Aptos"/>
              </a:defRPr>
            </a:pPr>
            <a:r>
              <a:rPr lang="en-US" dirty="0"/>
              <a:t>Problem statement</a:t>
            </a:r>
          </a:p>
          <a:p>
            <a:pPr marL="342900" indent="-342900">
              <a:spcAft>
                <a:spcPts val="1000"/>
              </a:spcAft>
              <a:buFont typeface="Arial" panose="020B0604020202020204" pitchFamily="34" charset="0"/>
              <a:buChar char="•"/>
              <a:defRPr sz="2000" b="0">
                <a:solidFill>
                  <a:srgbClr val="232323"/>
                </a:solidFill>
                <a:latin typeface="Aptos"/>
              </a:defRPr>
            </a:pPr>
            <a:r>
              <a:rPr lang="en-US" dirty="0"/>
              <a:t>Objectives</a:t>
            </a:r>
          </a:p>
          <a:p>
            <a:pPr marL="342900" indent="-342900">
              <a:spcAft>
                <a:spcPts val="1000"/>
              </a:spcAft>
              <a:buFont typeface="Arial" panose="020B0604020202020204" pitchFamily="34" charset="0"/>
              <a:buChar char="•"/>
              <a:defRPr sz="2000" b="0">
                <a:solidFill>
                  <a:srgbClr val="232323"/>
                </a:solidFill>
                <a:latin typeface="Aptos"/>
              </a:defRPr>
            </a:pPr>
            <a:r>
              <a:rPr lang="en-US" dirty="0"/>
              <a:t>System scope</a:t>
            </a:r>
          </a:p>
          <a:p>
            <a:pPr marL="342900" indent="-342900">
              <a:spcAft>
                <a:spcPts val="1000"/>
              </a:spcAft>
              <a:buFont typeface="Arial" panose="020B0604020202020204" pitchFamily="34" charset="0"/>
              <a:buChar char="•"/>
              <a:defRPr sz="2000" b="0">
                <a:solidFill>
                  <a:srgbClr val="232323"/>
                </a:solidFill>
                <a:latin typeface="Aptos"/>
              </a:defRPr>
            </a:pPr>
            <a:r>
              <a:rPr lang="en-IN" dirty="0"/>
              <a:t>Entities and Attributes</a:t>
            </a:r>
          </a:p>
          <a:p>
            <a:pPr marL="342900" indent="-342900">
              <a:spcAft>
                <a:spcPts val="1000"/>
              </a:spcAft>
              <a:buFont typeface="Arial" panose="020B0604020202020204" pitchFamily="34" charset="0"/>
              <a:buChar char="•"/>
              <a:defRPr sz="2000" b="0">
                <a:solidFill>
                  <a:srgbClr val="232323"/>
                </a:solidFill>
                <a:latin typeface="Aptos"/>
              </a:defRPr>
            </a:pPr>
            <a:r>
              <a:rPr lang="en-IN" dirty="0"/>
              <a:t>Relationships and Cardinality</a:t>
            </a:r>
          </a:p>
          <a:p>
            <a:pPr marL="342900" indent="-342900">
              <a:spcAft>
                <a:spcPts val="1000"/>
              </a:spcAft>
              <a:buFont typeface="Arial" panose="020B0604020202020204" pitchFamily="34" charset="0"/>
              <a:buChar char="•"/>
              <a:defRPr sz="2000" b="0">
                <a:solidFill>
                  <a:srgbClr val="232323"/>
                </a:solidFill>
                <a:latin typeface="Aptos"/>
              </a:defRPr>
            </a:pPr>
            <a:r>
              <a:rPr lang="en-IN" dirty="0"/>
              <a:t>Relational Database Schema</a:t>
            </a:r>
          </a:p>
          <a:p>
            <a:pPr marL="342900" indent="-342900">
              <a:spcAft>
                <a:spcPts val="1000"/>
              </a:spcAft>
              <a:buFont typeface="Arial" panose="020B0604020202020204" pitchFamily="34" charset="0"/>
              <a:buChar char="•"/>
              <a:defRPr sz="2000" b="0">
                <a:solidFill>
                  <a:srgbClr val="232323"/>
                </a:solidFill>
                <a:latin typeface="Aptos"/>
              </a:defRPr>
            </a:pPr>
            <a:r>
              <a:rPr lang="en-IN" dirty="0"/>
              <a:t> ER Diagram</a:t>
            </a:r>
          </a:p>
          <a:p>
            <a:pPr marL="342900" indent="-342900">
              <a:spcAft>
                <a:spcPts val="1000"/>
              </a:spcAft>
              <a:buFont typeface="Arial" panose="020B0604020202020204" pitchFamily="34" charset="0"/>
              <a:buChar char="•"/>
              <a:defRPr sz="2000" b="0">
                <a:solidFill>
                  <a:srgbClr val="232323"/>
                </a:solidFill>
                <a:latin typeface="Aptos"/>
              </a:defRPr>
            </a:pPr>
            <a:r>
              <a:rPr lang="en-IN" dirty="0"/>
              <a:t>Team Responsibilities and GitHub</a:t>
            </a:r>
          </a:p>
          <a:p>
            <a:pPr marL="342900" indent="-342900">
              <a:spcAft>
                <a:spcPts val="1000"/>
              </a:spcAft>
              <a:buFont typeface="Arial" panose="020B0604020202020204" pitchFamily="34" charset="0"/>
              <a:buChar char="•"/>
              <a:defRPr sz="2000" b="0">
                <a:solidFill>
                  <a:srgbClr val="232323"/>
                </a:solidFill>
                <a:latin typeface="Aptos"/>
              </a:defRPr>
            </a:pPr>
            <a:r>
              <a:rPr lang="en-IN" dirty="0"/>
              <a:t>Conclusion</a:t>
            </a:r>
            <a:endParaRPr dirty="0"/>
          </a:p>
        </p:txBody>
      </p:sp>
      <p:sp>
        <p:nvSpPr>
          <p:cNvPr id="6" name="TextBox 5"/>
          <p:cNvSpPr txBox="1"/>
          <p:nvPr/>
        </p:nvSpPr>
        <p:spPr>
          <a:xfrm>
            <a:off x="10789920" y="6473952"/>
            <a:ext cx="731520" cy="228600"/>
          </a:xfrm>
          <a:prstGeom prst="rect">
            <a:avLst/>
          </a:prstGeom>
          <a:noFill/>
        </p:spPr>
        <p:txBody>
          <a:bodyPr wrap="none">
            <a:spAutoFit/>
          </a:bodyPr>
          <a:lstStyle/>
          <a:p>
            <a:pPr algn="r">
              <a:defRPr sz="1000">
                <a:solidFill>
                  <a:srgbClr val="5F6973"/>
                </a:solidFill>
                <a:latin typeface="Aptos"/>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25807-5063-A141-C2DC-42C5EEAD63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70D54B0-0F23-B93E-C2F0-157D5A952546}"/>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a:extLst>
              <a:ext uri="{FF2B5EF4-FFF2-40B4-BE49-F238E27FC236}">
                <a16:creationId xmlns:a16="http://schemas.microsoft.com/office/drawing/2014/main" id="{C6DB7BB0-D4BD-EB92-7F0A-9A856C60BE97}"/>
              </a:ext>
            </a:extLst>
          </p:cNvPr>
          <p:cNvSpPr txBox="1"/>
          <p:nvPr/>
        </p:nvSpPr>
        <p:spPr>
          <a:xfrm>
            <a:off x="594360" y="320040"/>
            <a:ext cx="10972800" cy="594360"/>
          </a:xfrm>
          <a:prstGeom prst="rect">
            <a:avLst/>
          </a:prstGeom>
          <a:noFill/>
        </p:spPr>
        <p:txBody>
          <a:bodyPr wrap="none">
            <a:spAutoFit/>
          </a:bodyPr>
          <a:lstStyle/>
          <a:p>
            <a:pPr>
              <a:defRPr sz="2800" b="1">
                <a:solidFill>
                  <a:srgbClr val="182D4A"/>
                </a:solidFill>
                <a:latin typeface="Aptos Display"/>
              </a:defRPr>
            </a:pPr>
            <a:r>
              <a:t>1. Introduction</a:t>
            </a:r>
          </a:p>
        </p:txBody>
      </p:sp>
      <p:sp>
        <p:nvSpPr>
          <p:cNvPr id="4" name="Rectangle 3">
            <a:extLst>
              <a:ext uri="{FF2B5EF4-FFF2-40B4-BE49-F238E27FC236}">
                <a16:creationId xmlns:a16="http://schemas.microsoft.com/office/drawing/2014/main" id="{820A963A-C4B0-B506-E1AF-604238EAFCEA}"/>
              </a:ext>
            </a:extLst>
          </p:cNvPr>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8DB932B8-75D3-49C9-8235-05C96808CDCC}"/>
              </a:ext>
            </a:extLst>
          </p:cNvPr>
          <p:cNvSpPr txBox="1"/>
          <p:nvPr/>
        </p:nvSpPr>
        <p:spPr>
          <a:xfrm>
            <a:off x="724638" y="1410462"/>
            <a:ext cx="10515600" cy="4119076"/>
          </a:xfrm>
          <a:prstGeom prst="rect">
            <a:avLst/>
          </a:prstGeom>
          <a:noFill/>
        </p:spPr>
        <p:txBody>
          <a:bodyPr wrap="square">
            <a:spAutoFit/>
          </a:bodyPr>
          <a:lstStyle/>
          <a:p>
            <a:pPr marL="342900" indent="-342900">
              <a:spcAft>
                <a:spcPts val="1000"/>
              </a:spcAft>
              <a:buFont typeface="Arial" panose="020B0604020202020204" pitchFamily="34" charset="0"/>
              <a:buChar char="•"/>
              <a:defRPr sz="2000" b="0">
                <a:solidFill>
                  <a:srgbClr val="232323"/>
                </a:solidFill>
                <a:latin typeface="Aptos"/>
              </a:defRPr>
            </a:pPr>
            <a:r>
              <a:rPr lang="en-US" dirty="0"/>
              <a:t>An Online Shopping System is a website or mobile application that allows people to search for products, compare them, add them to a cart, and buy them online.</a:t>
            </a:r>
          </a:p>
          <a:p>
            <a:pPr marL="342900" indent="-342900">
              <a:spcAft>
                <a:spcPts val="1000"/>
              </a:spcAft>
              <a:buFont typeface="Arial" panose="020B0604020202020204" pitchFamily="34" charset="0"/>
              <a:buChar char="•"/>
              <a:defRPr sz="2000" b="0">
                <a:solidFill>
                  <a:srgbClr val="232323"/>
                </a:solidFill>
                <a:latin typeface="Aptos"/>
              </a:defRPr>
            </a:pPr>
            <a:r>
              <a:rPr lang="en-US" dirty="0"/>
              <a:t> It also provides features like product reviews, ratings, offers, and order tracking.</a:t>
            </a:r>
          </a:p>
          <a:p>
            <a:pPr marL="342900" indent="-342900">
              <a:spcAft>
                <a:spcPts val="1000"/>
              </a:spcAft>
              <a:buFont typeface="Arial" panose="020B0604020202020204" pitchFamily="34" charset="0"/>
              <a:buChar char="•"/>
              <a:defRPr sz="2000" b="0">
                <a:solidFill>
                  <a:srgbClr val="232323"/>
                </a:solidFill>
                <a:latin typeface="Aptos"/>
              </a:defRPr>
            </a:pPr>
            <a:r>
              <a:rPr lang="en-US" dirty="0"/>
              <a:t>The system manages different users such as customers, sellers, administrators, warehouse staff, and delivery partners.</a:t>
            </a:r>
          </a:p>
          <a:p>
            <a:pPr marL="342900" indent="-342900">
              <a:spcAft>
                <a:spcPts val="1000"/>
              </a:spcAft>
              <a:buFont typeface="Arial" panose="020B0604020202020204" pitchFamily="34" charset="0"/>
              <a:buChar char="•"/>
              <a:defRPr sz="2000" b="0">
                <a:solidFill>
                  <a:srgbClr val="232323"/>
                </a:solidFill>
                <a:latin typeface="Aptos"/>
              </a:defRPr>
            </a:pPr>
            <a:r>
              <a:rPr lang="en-US" dirty="0"/>
              <a:t> A DBMS (Database Management System) is used to store and manage important information such as user details, products, prices, orders, payments, stock, and delivery details.</a:t>
            </a:r>
          </a:p>
          <a:p>
            <a:pPr marL="342900" indent="-342900">
              <a:spcAft>
                <a:spcPts val="1000"/>
              </a:spcAft>
              <a:buFont typeface="Arial" panose="020B0604020202020204" pitchFamily="34" charset="0"/>
              <a:buChar char="•"/>
              <a:defRPr sz="2000" b="0">
                <a:solidFill>
                  <a:srgbClr val="232323"/>
                </a:solidFill>
                <a:latin typeface="Aptos"/>
              </a:defRPr>
            </a:pPr>
            <a:r>
              <a:rPr lang="en-US" dirty="0"/>
              <a:t>The database helps keep the information organized, accurate, secure, and consistent. </a:t>
            </a:r>
          </a:p>
          <a:p>
            <a:pPr marL="342900" indent="-342900">
              <a:spcAft>
                <a:spcPts val="1000"/>
              </a:spcAft>
              <a:buFont typeface="Arial" panose="020B0604020202020204" pitchFamily="34" charset="0"/>
              <a:buChar char="•"/>
              <a:defRPr sz="2000" b="0">
                <a:solidFill>
                  <a:srgbClr val="232323"/>
                </a:solidFill>
                <a:latin typeface="Aptos"/>
              </a:defRPr>
            </a:pPr>
            <a:r>
              <a:rPr lang="en-US" dirty="0"/>
              <a:t>It also ensures that activities like placing an order, making a payment, and updating stock are completed correctly without errors.</a:t>
            </a:r>
          </a:p>
        </p:txBody>
      </p:sp>
      <p:sp>
        <p:nvSpPr>
          <p:cNvPr id="6" name="TextBox 5">
            <a:extLst>
              <a:ext uri="{FF2B5EF4-FFF2-40B4-BE49-F238E27FC236}">
                <a16:creationId xmlns:a16="http://schemas.microsoft.com/office/drawing/2014/main" id="{BD3A4725-8AA5-FBB1-63F5-84F14C74CB07}"/>
              </a:ext>
            </a:extLst>
          </p:cNvPr>
          <p:cNvSpPr txBox="1"/>
          <p:nvPr/>
        </p:nvSpPr>
        <p:spPr>
          <a:xfrm>
            <a:off x="10789920" y="6473952"/>
            <a:ext cx="731520" cy="228600"/>
          </a:xfrm>
          <a:prstGeom prst="rect">
            <a:avLst/>
          </a:prstGeom>
          <a:noFill/>
        </p:spPr>
        <p:txBody>
          <a:bodyPr wrap="none">
            <a:spAutoFit/>
          </a:bodyPr>
          <a:lstStyle/>
          <a:p>
            <a:pPr algn="r">
              <a:defRPr sz="1000">
                <a:solidFill>
                  <a:srgbClr val="5F6973"/>
                </a:solidFill>
                <a:latin typeface="Aptos"/>
              </a:defRPr>
            </a:pPr>
            <a:r>
              <a:t>2</a:t>
            </a:r>
          </a:p>
        </p:txBody>
      </p:sp>
    </p:spTree>
    <p:extLst>
      <p:ext uri="{BB962C8B-B14F-4D97-AF65-F5344CB8AC3E}">
        <p14:creationId xmlns:p14="http://schemas.microsoft.com/office/powerpoint/2010/main" val="2594928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9270" y="-33793"/>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82D4A"/>
                </a:solidFill>
                <a:latin typeface="Aptos Display"/>
              </a:defRPr>
            </a:pPr>
            <a:r>
              <a:t>2. Problem Statement</a:t>
            </a:r>
          </a:p>
        </p:txBody>
      </p:sp>
      <p:sp>
        <p:nvSpPr>
          <p:cNvPr id="4" name="Rectangle 3"/>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417320"/>
            <a:ext cx="10515600" cy="4893647"/>
          </a:xfrm>
          <a:prstGeom prst="rect">
            <a:avLst/>
          </a:prstGeom>
          <a:noFill/>
        </p:spPr>
        <p:txBody>
          <a:bodyPr wrap="square">
            <a:spAutoFit/>
          </a:bodyPr>
          <a:lstStyle/>
          <a:p>
            <a:endParaRPr lang="en-IN" sz="2400" dirty="0"/>
          </a:p>
          <a:p>
            <a:pPr marL="342900" lvl="0" indent="-342900">
              <a:buFont typeface="Arial" panose="020B0604020202020204" pitchFamily="34" charset="0"/>
              <a:buChar char="•"/>
            </a:pPr>
            <a:r>
              <a:rPr lang="en-IN" sz="2400" b="1" dirty="0"/>
              <a:t>Data problems:</a:t>
            </a:r>
            <a:r>
              <a:rPr lang="en-IN" sz="2400" dirty="0"/>
              <a:t> Customer, product, order, payment, and delivery information are stored separately, which can cause duplicate . </a:t>
            </a:r>
          </a:p>
          <a:p>
            <a:pPr marL="342900" lvl="0" indent="-342900">
              <a:buFont typeface="Arial" panose="020B0604020202020204" pitchFamily="34" charset="0"/>
              <a:buChar char="•"/>
            </a:pPr>
            <a:r>
              <a:rPr lang="en-IN" sz="2400" b="1" dirty="0"/>
              <a:t>Inventory problems:</a:t>
            </a:r>
            <a:r>
              <a:rPr lang="en-IN" sz="2400" dirty="0"/>
              <a:t> Stock is not updated in real time, so a product may be sold even when it is out of stock. </a:t>
            </a:r>
          </a:p>
          <a:p>
            <a:pPr marL="342900" lvl="0" indent="-342900">
              <a:buFont typeface="Arial" panose="020B0604020202020204" pitchFamily="34" charset="0"/>
              <a:buChar char="•"/>
            </a:pPr>
            <a:r>
              <a:rPr lang="en-IN" sz="2400" b="1" dirty="0"/>
              <a:t>Slow order processing:</a:t>
            </a:r>
            <a:r>
              <a:rPr lang="en-IN" sz="2400" dirty="0"/>
              <a:t> Manual order and payment processes take more time and can lead to mistakes and delivery delays. </a:t>
            </a:r>
          </a:p>
          <a:p>
            <a:pPr marL="342900" lvl="0" indent="-342900">
              <a:buFont typeface="Arial" panose="020B0604020202020204" pitchFamily="34" charset="0"/>
              <a:buChar char="•"/>
            </a:pPr>
            <a:r>
              <a:rPr lang="en-IN" sz="2400" b="1" dirty="0"/>
              <a:t>Transaction problems:</a:t>
            </a:r>
            <a:r>
              <a:rPr lang="en-IN" sz="2400" dirty="0"/>
              <a:t> If a payment or order fails, the system may not properly update all the related information, causing inconsistent data. </a:t>
            </a:r>
          </a:p>
          <a:p>
            <a:pPr marL="342900" lvl="0" indent="-342900">
              <a:buFont typeface="Arial" panose="020B0604020202020204" pitchFamily="34" charset="0"/>
              <a:buChar char="•"/>
            </a:pPr>
            <a:endParaRPr lang="en-IN" sz="2400" dirty="0"/>
          </a:p>
          <a:p>
            <a:r>
              <a:rPr lang="en-IN" sz="2400" b="1" dirty="0"/>
              <a:t>Therefore, we need an integrated e-commerce system that manages data, inventory, orders, payments, and deliveries accurately and efficiently.</a:t>
            </a:r>
            <a:endParaRPr lang="en-IN" sz="2400" dirty="0"/>
          </a:p>
          <a:p>
            <a:pPr marL="342900" indent="-342900">
              <a:spcAft>
                <a:spcPts val="1000"/>
              </a:spcAft>
              <a:buFont typeface="Arial" panose="020B0604020202020204" pitchFamily="34" charset="0"/>
              <a:buChar char="•"/>
              <a:defRPr sz="2000" b="0">
                <a:solidFill>
                  <a:srgbClr val="232323"/>
                </a:solidFill>
                <a:latin typeface="Aptos"/>
              </a:defRPr>
            </a:pPr>
            <a:endParaRPr sz="2400" dirty="0"/>
          </a:p>
        </p:txBody>
      </p:sp>
      <p:sp>
        <p:nvSpPr>
          <p:cNvPr id="6" name="TextBox 5"/>
          <p:cNvSpPr txBox="1"/>
          <p:nvPr/>
        </p:nvSpPr>
        <p:spPr>
          <a:xfrm>
            <a:off x="10789920" y="6473952"/>
            <a:ext cx="731520" cy="228600"/>
          </a:xfrm>
          <a:prstGeom prst="rect">
            <a:avLst/>
          </a:prstGeom>
          <a:noFill/>
        </p:spPr>
        <p:txBody>
          <a:bodyPr wrap="none">
            <a:spAutoFit/>
          </a:bodyPr>
          <a:lstStyle/>
          <a:p>
            <a:pPr algn="r">
              <a:defRPr sz="1000">
                <a:solidFill>
                  <a:srgbClr val="5F6973"/>
                </a:solidFill>
                <a:latin typeface="Aptos"/>
              </a:defRPr>
            </a:pPr>
            <a: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8417" y="-155448"/>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82D4A"/>
                </a:solidFill>
                <a:latin typeface="Aptos Display"/>
              </a:defRPr>
            </a:pPr>
            <a:r>
              <a:t>3. Objectives</a:t>
            </a:r>
          </a:p>
        </p:txBody>
      </p:sp>
      <p:sp>
        <p:nvSpPr>
          <p:cNvPr id="4" name="Rectangle 3"/>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047" y="1522476"/>
            <a:ext cx="10515600" cy="2616101"/>
          </a:xfrm>
          <a:prstGeom prst="rect">
            <a:avLst/>
          </a:prstGeom>
          <a:noFill/>
        </p:spPr>
        <p:txBody>
          <a:bodyPr wrap="square">
            <a:spAutoFit/>
          </a:bodyPr>
          <a:lstStyle/>
          <a:p>
            <a:pPr marL="342900" lvl="0" indent="-342900">
              <a:buFont typeface="Arial" panose="020B0604020202020204" pitchFamily="34" charset="0"/>
              <a:buChar char="•"/>
            </a:pPr>
            <a:r>
              <a:rPr lang="en-IN" sz="2800" dirty="0"/>
              <a:t>Create a well-organized database.</a:t>
            </a:r>
          </a:p>
          <a:p>
            <a:pPr marL="342900" lvl="0" indent="-342900">
              <a:buFont typeface="Arial" panose="020B0604020202020204" pitchFamily="34" charset="0"/>
              <a:buChar char="•"/>
            </a:pPr>
            <a:r>
              <a:rPr lang="en-IN" sz="2800" dirty="0"/>
              <a:t>Keep transactions safe and accurate.</a:t>
            </a:r>
          </a:p>
          <a:p>
            <a:pPr marL="342900" lvl="0" indent="-342900">
              <a:buFont typeface="Arial" panose="020B0604020202020204" pitchFamily="34" charset="0"/>
              <a:buChar char="•"/>
            </a:pPr>
            <a:r>
              <a:rPr lang="en-IN" sz="2800" dirty="0"/>
              <a:t> Protect user information Update stock in real time.</a:t>
            </a:r>
          </a:p>
          <a:p>
            <a:pPr marL="342900" lvl="0" indent="-342900">
              <a:buFont typeface="Arial" panose="020B0604020202020204" pitchFamily="34" charset="0"/>
              <a:buChar char="•"/>
            </a:pPr>
            <a:r>
              <a:rPr lang="en-IN" sz="2800" dirty="0"/>
              <a:t>Keep records of important activities.</a:t>
            </a:r>
          </a:p>
          <a:p>
            <a:pPr marL="342900" lvl="0" indent="-342900">
              <a:buFont typeface="Arial" panose="020B0604020202020204" pitchFamily="34" charset="0"/>
              <a:buChar char="•"/>
            </a:pPr>
            <a:r>
              <a:rPr lang="en-IN" sz="2800" dirty="0"/>
              <a:t>Make the system scalable and reliable .</a:t>
            </a:r>
          </a:p>
          <a:p>
            <a:pPr>
              <a:spcAft>
                <a:spcPts val="1000"/>
              </a:spcAft>
              <a:defRPr sz="1900" b="0">
                <a:solidFill>
                  <a:srgbClr val="232323"/>
                </a:solidFill>
                <a:latin typeface="Aptos"/>
              </a:defRPr>
            </a:pPr>
            <a:endParaRPr sz="2400" dirty="0"/>
          </a:p>
        </p:txBody>
      </p:sp>
      <p:sp>
        <p:nvSpPr>
          <p:cNvPr id="6" name="TextBox 5"/>
          <p:cNvSpPr txBox="1"/>
          <p:nvPr/>
        </p:nvSpPr>
        <p:spPr>
          <a:xfrm>
            <a:off x="10789920" y="6473952"/>
            <a:ext cx="731520" cy="228600"/>
          </a:xfrm>
          <a:prstGeom prst="rect">
            <a:avLst/>
          </a:prstGeom>
          <a:noFill/>
        </p:spPr>
        <p:txBody>
          <a:bodyPr wrap="none">
            <a:spAutoFit/>
          </a:bodyPr>
          <a:lstStyle/>
          <a:p>
            <a:pPr algn="r">
              <a:defRPr sz="1000">
                <a:solidFill>
                  <a:srgbClr val="5F6973"/>
                </a:solidFill>
                <a:latin typeface="Aptos"/>
              </a:defRPr>
            </a:pPr>
            <a: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82D4A"/>
                </a:solidFill>
                <a:latin typeface="Aptos Display"/>
              </a:defRPr>
            </a:pPr>
            <a:r>
              <a:t>4. System Scope</a:t>
            </a:r>
          </a:p>
        </p:txBody>
      </p:sp>
      <p:sp>
        <p:nvSpPr>
          <p:cNvPr id="4" name="Rectangle 3"/>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417320"/>
            <a:ext cx="2788920" cy="1266444"/>
          </a:xfrm>
          <a:prstGeom prst="round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t>Customer</a:t>
            </a:r>
            <a:endParaRPr lang="en-US" dirty="0"/>
          </a:p>
          <a:p>
            <a:pPr algn="ctr"/>
            <a:r>
              <a:rPr lang="en-US" dirty="0"/>
              <a:t>Customer buys products online</a:t>
            </a:r>
          </a:p>
        </p:txBody>
      </p:sp>
      <p:sp>
        <p:nvSpPr>
          <p:cNvPr id="8" name="Rounded Rectangle 7"/>
          <p:cNvSpPr/>
          <p:nvPr/>
        </p:nvSpPr>
        <p:spPr>
          <a:xfrm>
            <a:off x="4480560" y="1417320"/>
            <a:ext cx="2788920" cy="1339596"/>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b="1" dirty="0"/>
          </a:p>
          <a:p>
            <a:pPr algn="ctr"/>
            <a:r>
              <a:rPr lang="en-US" b="1" dirty="0"/>
              <a:t>Category</a:t>
            </a:r>
          </a:p>
          <a:p>
            <a:pPr algn="ctr"/>
            <a:r>
              <a:rPr lang="en-US" dirty="0"/>
              <a:t>Category groups similar products</a:t>
            </a:r>
          </a:p>
          <a:p>
            <a:pPr algn="ctr"/>
            <a:endParaRPr lang="en-US" b="1" dirty="0"/>
          </a:p>
        </p:txBody>
      </p:sp>
      <p:sp>
        <p:nvSpPr>
          <p:cNvPr id="11" name="Rounded Rectangle 10"/>
          <p:cNvSpPr/>
          <p:nvPr/>
        </p:nvSpPr>
        <p:spPr>
          <a:xfrm>
            <a:off x="8275320" y="1417320"/>
            <a:ext cx="2788920" cy="1339596"/>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t>Product</a:t>
            </a:r>
          </a:p>
          <a:p>
            <a:pPr algn="ctr"/>
            <a:r>
              <a:rPr lang="en-US" dirty="0"/>
              <a:t>Product is an item sold online</a:t>
            </a:r>
          </a:p>
        </p:txBody>
      </p:sp>
      <p:sp>
        <p:nvSpPr>
          <p:cNvPr id="14" name="Rounded Rectangle 13"/>
          <p:cNvSpPr/>
          <p:nvPr/>
        </p:nvSpPr>
        <p:spPr>
          <a:xfrm>
            <a:off x="685800" y="3344164"/>
            <a:ext cx="2931160" cy="132588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t>Address</a:t>
            </a:r>
          </a:p>
          <a:p>
            <a:pPr algn="ctr"/>
            <a:r>
              <a:rPr lang="en-US" dirty="0"/>
              <a:t>An address shows where customer lives or receives the order</a:t>
            </a:r>
          </a:p>
        </p:txBody>
      </p:sp>
      <p:sp>
        <p:nvSpPr>
          <p:cNvPr id="16" name="TextBox 15"/>
          <p:cNvSpPr txBox="1"/>
          <p:nvPr/>
        </p:nvSpPr>
        <p:spPr>
          <a:xfrm>
            <a:off x="850392" y="4224528"/>
            <a:ext cx="184731" cy="292388"/>
          </a:xfrm>
          <a:prstGeom prst="rect">
            <a:avLst/>
          </a:prstGeom>
          <a:noFill/>
        </p:spPr>
        <p:txBody>
          <a:bodyPr wrap="none">
            <a:spAutoFit/>
          </a:bodyPr>
          <a:lstStyle/>
          <a:p>
            <a:pPr>
              <a:defRPr sz="1300">
                <a:solidFill>
                  <a:srgbClr val="232323"/>
                </a:solidFill>
                <a:latin typeface="Aptos"/>
              </a:defRPr>
            </a:pPr>
            <a:endParaRPr dirty="0"/>
          </a:p>
        </p:txBody>
      </p:sp>
      <p:sp>
        <p:nvSpPr>
          <p:cNvPr id="17" name="Rounded Rectangle 16"/>
          <p:cNvSpPr/>
          <p:nvPr/>
        </p:nvSpPr>
        <p:spPr>
          <a:xfrm>
            <a:off x="4480560" y="3344164"/>
            <a:ext cx="2931160" cy="132588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t>Orders</a:t>
            </a:r>
            <a:endParaRPr lang="en-US" dirty="0"/>
          </a:p>
          <a:p>
            <a:pPr algn="ctr"/>
            <a:r>
              <a:rPr lang="en-US" dirty="0"/>
              <a:t>An order records what customer buys</a:t>
            </a:r>
            <a:endParaRPr dirty="0"/>
          </a:p>
        </p:txBody>
      </p:sp>
      <p:sp>
        <p:nvSpPr>
          <p:cNvPr id="18" name="TextBox 17"/>
          <p:cNvSpPr txBox="1"/>
          <p:nvPr/>
        </p:nvSpPr>
        <p:spPr>
          <a:xfrm>
            <a:off x="4645152" y="3730752"/>
            <a:ext cx="184731" cy="338554"/>
          </a:xfrm>
          <a:prstGeom prst="rect">
            <a:avLst/>
          </a:prstGeom>
          <a:noFill/>
        </p:spPr>
        <p:txBody>
          <a:bodyPr wrap="none">
            <a:spAutoFit/>
          </a:bodyPr>
          <a:lstStyle/>
          <a:p>
            <a:pPr>
              <a:defRPr sz="1600" b="1">
                <a:solidFill>
                  <a:srgbClr val="182D4A"/>
                </a:solidFill>
                <a:latin typeface="Aptos"/>
              </a:defRPr>
            </a:pPr>
            <a:endParaRPr dirty="0"/>
          </a:p>
        </p:txBody>
      </p:sp>
      <p:sp>
        <p:nvSpPr>
          <p:cNvPr id="19" name="TextBox 18"/>
          <p:cNvSpPr txBox="1"/>
          <p:nvPr/>
        </p:nvSpPr>
        <p:spPr>
          <a:xfrm>
            <a:off x="4645152" y="4224528"/>
            <a:ext cx="184731" cy="292388"/>
          </a:xfrm>
          <a:prstGeom prst="rect">
            <a:avLst/>
          </a:prstGeom>
          <a:noFill/>
        </p:spPr>
        <p:txBody>
          <a:bodyPr wrap="none">
            <a:spAutoFit/>
          </a:bodyPr>
          <a:lstStyle/>
          <a:p>
            <a:pPr>
              <a:defRPr sz="1300">
                <a:solidFill>
                  <a:srgbClr val="232323"/>
                </a:solidFill>
                <a:latin typeface="Aptos"/>
              </a:defRPr>
            </a:pPr>
            <a:endParaRPr dirty="0"/>
          </a:p>
        </p:txBody>
      </p:sp>
      <p:sp>
        <p:nvSpPr>
          <p:cNvPr id="20" name="Rounded Rectangle 19"/>
          <p:cNvSpPr/>
          <p:nvPr/>
        </p:nvSpPr>
        <p:spPr>
          <a:xfrm>
            <a:off x="8275320" y="3285236"/>
            <a:ext cx="2931160" cy="1398524"/>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t>Cart</a:t>
            </a:r>
          </a:p>
          <a:p>
            <a:pPr algn="ctr"/>
            <a:r>
              <a:rPr lang="en-US" dirty="0"/>
              <a:t>stores products the customer wants to buys</a:t>
            </a:r>
            <a:endParaRPr dirty="0"/>
          </a:p>
        </p:txBody>
      </p:sp>
      <p:sp>
        <p:nvSpPr>
          <p:cNvPr id="21" name="TextBox 20"/>
          <p:cNvSpPr txBox="1"/>
          <p:nvPr/>
        </p:nvSpPr>
        <p:spPr>
          <a:xfrm>
            <a:off x="8439912" y="3730752"/>
            <a:ext cx="184731" cy="338554"/>
          </a:xfrm>
          <a:prstGeom prst="rect">
            <a:avLst/>
          </a:prstGeom>
          <a:noFill/>
        </p:spPr>
        <p:txBody>
          <a:bodyPr wrap="none">
            <a:spAutoFit/>
          </a:bodyPr>
          <a:lstStyle/>
          <a:p>
            <a:pPr>
              <a:defRPr sz="1600" b="1">
                <a:solidFill>
                  <a:srgbClr val="182D4A"/>
                </a:solidFill>
                <a:latin typeface="Aptos"/>
              </a:defRPr>
            </a:pPr>
            <a:endParaRPr dirty="0"/>
          </a:p>
        </p:txBody>
      </p:sp>
      <p:sp>
        <p:nvSpPr>
          <p:cNvPr id="23" name="TextBox 22"/>
          <p:cNvSpPr txBox="1"/>
          <p:nvPr/>
        </p:nvSpPr>
        <p:spPr>
          <a:xfrm>
            <a:off x="10789920" y="6473952"/>
            <a:ext cx="731520" cy="228600"/>
          </a:xfrm>
          <a:prstGeom prst="rect">
            <a:avLst/>
          </a:prstGeom>
          <a:noFill/>
        </p:spPr>
        <p:txBody>
          <a:bodyPr wrap="none">
            <a:spAutoFit/>
          </a:bodyPr>
          <a:lstStyle/>
          <a:p>
            <a:pPr algn="r">
              <a:defRPr sz="1000">
                <a:solidFill>
                  <a:srgbClr val="5F6973"/>
                </a:solidFill>
                <a:latin typeface="Aptos"/>
              </a:defRPr>
            </a:pPr>
            <a:r>
              <a:t>5</a:t>
            </a:r>
          </a:p>
        </p:txBody>
      </p:sp>
      <p:sp>
        <p:nvSpPr>
          <p:cNvPr id="25" name="Rectangle: Rounded Corners 24">
            <a:extLst>
              <a:ext uri="{FF2B5EF4-FFF2-40B4-BE49-F238E27FC236}">
                <a16:creationId xmlns:a16="http://schemas.microsoft.com/office/drawing/2014/main" id="{EE95FD31-5C54-6622-C085-E2190A97EC64}"/>
              </a:ext>
            </a:extLst>
          </p:cNvPr>
          <p:cNvSpPr/>
          <p:nvPr/>
        </p:nvSpPr>
        <p:spPr>
          <a:xfrm>
            <a:off x="685800" y="5212080"/>
            <a:ext cx="2931160" cy="132588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t>Payment</a:t>
            </a:r>
          </a:p>
          <a:p>
            <a:pPr algn="ctr"/>
            <a:r>
              <a:rPr lang="en-US" dirty="0"/>
              <a:t>Payment records how the customer pays</a:t>
            </a:r>
            <a:endParaRPr lang="en-IN" dirty="0"/>
          </a:p>
        </p:txBody>
      </p:sp>
      <p:sp>
        <p:nvSpPr>
          <p:cNvPr id="26" name="Rectangle: Rounded Corners 25">
            <a:extLst>
              <a:ext uri="{FF2B5EF4-FFF2-40B4-BE49-F238E27FC236}">
                <a16:creationId xmlns:a16="http://schemas.microsoft.com/office/drawing/2014/main" id="{46E09A57-E432-22FC-5A45-3F117F7D3ACE}"/>
              </a:ext>
            </a:extLst>
          </p:cNvPr>
          <p:cNvSpPr/>
          <p:nvPr/>
        </p:nvSpPr>
        <p:spPr>
          <a:xfrm>
            <a:off x="4480560" y="5212080"/>
            <a:ext cx="2931160" cy="132588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t>Shipment</a:t>
            </a:r>
          </a:p>
          <a:p>
            <a:pPr algn="ctr"/>
            <a:r>
              <a:rPr lang="en-US" dirty="0"/>
              <a:t>Shipment records how the order is delivered</a:t>
            </a:r>
            <a:endParaRPr lang="en-IN" dirty="0"/>
          </a:p>
        </p:txBody>
      </p:sp>
      <p:sp>
        <p:nvSpPr>
          <p:cNvPr id="28" name="Rectangle: Rounded Corners 27">
            <a:extLst>
              <a:ext uri="{FF2B5EF4-FFF2-40B4-BE49-F238E27FC236}">
                <a16:creationId xmlns:a16="http://schemas.microsoft.com/office/drawing/2014/main" id="{D90977DE-02DF-BF4F-42A6-B07A9EA54A09}"/>
              </a:ext>
            </a:extLst>
          </p:cNvPr>
          <p:cNvSpPr/>
          <p:nvPr/>
        </p:nvSpPr>
        <p:spPr>
          <a:xfrm>
            <a:off x="8361680" y="5212080"/>
            <a:ext cx="2854960" cy="132588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t>Review</a:t>
            </a:r>
          </a:p>
          <a:p>
            <a:pPr algn="ctr"/>
            <a:r>
              <a:rPr lang="en-US" dirty="0"/>
              <a:t>Shows what a customer thinks about a product</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82D4A"/>
                </a:solidFill>
                <a:latin typeface="Aptos Display"/>
              </a:defRPr>
            </a:pPr>
            <a:r>
              <a:t>5. Entities and Attributes</a:t>
            </a:r>
          </a:p>
        </p:txBody>
      </p:sp>
      <p:sp>
        <p:nvSpPr>
          <p:cNvPr id="4" name="TextBox 3"/>
          <p:cNvSpPr txBox="1"/>
          <p:nvPr/>
        </p:nvSpPr>
        <p:spPr>
          <a:xfrm>
            <a:off x="621792" y="932688"/>
            <a:ext cx="3693512" cy="292388"/>
          </a:xfrm>
          <a:prstGeom prst="rect">
            <a:avLst/>
          </a:prstGeom>
          <a:noFill/>
        </p:spPr>
        <p:txBody>
          <a:bodyPr wrap="none">
            <a:spAutoFit/>
          </a:bodyPr>
          <a:lstStyle/>
          <a:p>
            <a:pPr>
              <a:defRPr sz="1300">
                <a:solidFill>
                  <a:srgbClr val="5F6973"/>
                </a:solidFill>
                <a:latin typeface="Aptos"/>
              </a:defRPr>
            </a:pPr>
            <a:r>
              <a:rPr lang="en-US" dirty="0"/>
              <a:t>Nine </a:t>
            </a:r>
            <a:r>
              <a:rPr dirty="0"/>
              <a:t>entities identified for the proposed database</a:t>
            </a:r>
          </a:p>
        </p:txBody>
      </p:sp>
      <p:sp>
        <p:nvSpPr>
          <p:cNvPr id="5" name="Rectangle 4"/>
          <p:cNvSpPr/>
          <p:nvPr/>
        </p:nvSpPr>
        <p:spPr>
          <a:xfrm>
            <a:off x="594360" y="1254318"/>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1504664821"/>
              </p:ext>
            </p:extLst>
          </p:nvPr>
        </p:nvGraphicFramePr>
        <p:xfrm>
          <a:off x="594360" y="1371600"/>
          <a:ext cx="10972800" cy="3840480"/>
        </p:xfrm>
        <a:graphic>
          <a:graphicData uri="http://schemas.openxmlformats.org/drawingml/2006/table">
            <a:tbl>
              <a:tblPr firstRow="1" bandRow="1">
                <a:tableStyleId>{073A0DAA-6AF3-43AB-8588-CEC1D06C72B9}</a:tableStyleId>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640080">
                <a:tc>
                  <a:txBody>
                    <a:bodyPr/>
                    <a:lstStyle/>
                    <a:p>
                      <a:pPr>
                        <a:defRPr sz="1250" b="1">
                          <a:solidFill>
                            <a:srgbClr val="FFFFFF"/>
                          </a:solidFill>
                          <a:latin typeface="Aptos"/>
                        </a:defRPr>
                      </a:pPr>
                      <a:r>
                        <a:rPr sz="1400" dirty="0">
                          <a:latin typeface="+mn-lt"/>
                        </a:rPr>
                        <a:t>Entity</a:t>
                      </a:r>
                    </a:p>
                  </a:txBody>
                  <a:tcPr marL="73152" marR="45720" marT="36576" marB="36576"/>
                </a:tc>
                <a:tc>
                  <a:txBody>
                    <a:bodyPr/>
                    <a:lstStyle/>
                    <a:p>
                      <a:pPr>
                        <a:defRPr sz="1250" b="1">
                          <a:solidFill>
                            <a:srgbClr val="FFFFFF"/>
                          </a:solidFill>
                          <a:latin typeface="Aptos"/>
                        </a:defRPr>
                      </a:pPr>
                      <a:r>
                        <a:rPr sz="1400">
                          <a:latin typeface="+mn-lt"/>
                        </a:rPr>
                        <a:t>Key attributes</a:t>
                      </a:r>
                    </a:p>
                  </a:txBody>
                  <a:tcPr marL="73152" marR="45720" marT="36576" marB="36576"/>
                </a:tc>
                <a:extLst>
                  <a:ext uri="{0D108BD9-81ED-4DB2-BD59-A6C34878D82A}">
                    <a16:rowId xmlns:a16="http://schemas.microsoft.com/office/drawing/2014/main" val="10000"/>
                  </a:ext>
                </a:extLst>
              </a:tr>
              <a:tr h="640080">
                <a:tc>
                  <a:txBody>
                    <a:bodyPr/>
                    <a:lstStyle/>
                    <a:p>
                      <a:pPr>
                        <a:defRPr sz="1250">
                          <a:solidFill>
                            <a:srgbClr val="232323"/>
                          </a:solidFill>
                          <a:latin typeface="Aptos"/>
                        </a:defRPr>
                      </a:pPr>
                      <a:r>
                        <a:rPr lang="en-US" sz="1600" dirty="0">
                          <a:latin typeface="+mn-lt"/>
                        </a:rPr>
                        <a:t>Customer</a:t>
                      </a:r>
                      <a:endParaRPr sz="1600" dirty="0">
                        <a:latin typeface="+mn-lt"/>
                      </a:endParaRPr>
                    </a:p>
                  </a:txBody>
                  <a:tcPr marL="73152" marR="45720" marT="36576" marB="36576"/>
                </a:tc>
                <a:tc>
                  <a:txBody>
                    <a:bodyPr/>
                    <a:lstStyle/>
                    <a:p>
                      <a:pPr>
                        <a:defRPr sz="1250">
                          <a:solidFill>
                            <a:srgbClr val="232323"/>
                          </a:solidFill>
                          <a:latin typeface="Aptos"/>
                        </a:defRPr>
                      </a:pPr>
                      <a:r>
                        <a:rPr lang="en-US" sz="1600" dirty="0" err="1">
                          <a:latin typeface="+mn-lt"/>
                        </a:rPr>
                        <a:t>Customer_ID</a:t>
                      </a:r>
                      <a:r>
                        <a:rPr lang="en-US" sz="1600" dirty="0">
                          <a:latin typeface="+mn-lt"/>
                        </a:rPr>
                        <a:t>(PK), </a:t>
                      </a:r>
                      <a:r>
                        <a:rPr lang="en-US" sz="1600" dirty="0" err="1">
                          <a:latin typeface="+mn-lt"/>
                        </a:rPr>
                        <a:t>Customer_Name</a:t>
                      </a:r>
                      <a:r>
                        <a:rPr lang="en-US" sz="1600" dirty="0">
                          <a:latin typeface="+mn-lt"/>
                        </a:rPr>
                        <a:t>, Email, Phone, Password</a:t>
                      </a:r>
                      <a:endParaRPr sz="1600" dirty="0">
                        <a:latin typeface="+mn-lt"/>
                      </a:endParaRPr>
                    </a:p>
                  </a:txBody>
                  <a:tcPr marL="73152" marR="45720" marT="36576" marB="36576"/>
                </a:tc>
                <a:extLst>
                  <a:ext uri="{0D108BD9-81ED-4DB2-BD59-A6C34878D82A}">
                    <a16:rowId xmlns:a16="http://schemas.microsoft.com/office/drawing/2014/main" val="10001"/>
                  </a:ext>
                </a:extLst>
              </a:tr>
              <a:tr h="640080">
                <a:tc>
                  <a:txBody>
                    <a:bodyPr/>
                    <a:lstStyle/>
                    <a:p>
                      <a:pPr>
                        <a:defRPr sz="1250">
                          <a:solidFill>
                            <a:srgbClr val="232323"/>
                          </a:solidFill>
                          <a:latin typeface="Aptos"/>
                        </a:defRPr>
                      </a:pPr>
                      <a:r>
                        <a:rPr lang="en-US" sz="1600" dirty="0">
                          <a:latin typeface="+mn-lt"/>
                        </a:rPr>
                        <a:t>Category</a:t>
                      </a:r>
                      <a:endParaRPr sz="1600" dirty="0">
                        <a:latin typeface="+mn-lt"/>
                      </a:endParaRPr>
                    </a:p>
                  </a:txBody>
                  <a:tcPr marL="73152" marR="45720" marT="36576" marB="36576"/>
                </a:tc>
                <a:tc>
                  <a:txBody>
                    <a:bodyPr/>
                    <a:lstStyle/>
                    <a:p>
                      <a:pPr>
                        <a:defRPr sz="1250">
                          <a:solidFill>
                            <a:srgbClr val="232323"/>
                          </a:solidFill>
                          <a:latin typeface="Aptos"/>
                        </a:defRPr>
                      </a:pPr>
                      <a:r>
                        <a:rPr lang="en-US" sz="1600" dirty="0" err="1">
                          <a:latin typeface="+mn-lt"/>
                        </a:rPr>
                        <a:t>Category_ID</a:t>
                      </a:r>
                      <a:r>
                        <a:rPr lang="en-US" sz="1600" dirty="0">
                          <a:latin typeface="+mn-lt"/>
                        </a:rPr>
                        <a:t>(PK), </a:t>
                      </a:r>
                      <a:r>
                        <a:rPr lang="en-US" sz="1600" dirty="0" err="1">
                          <a:latin typeface="+mn-lt"/>
                        </a:rPr>
                        <a:t>Category_Name</a:t>
                      </a:r>
                      <a:r>
                        <a:rPr lang="en-US" sz="1600" dirty="0">
                          <a:latin typeface="+mn-lt"/>
                        </a:rPr>
                        <a:t>, Description</a:t>
                      </a:r>
                      <a:endParaRPr sz="1600" dirty="0">
                        <a:latin typeface="+mn-lt"/>
                      </a:endParaRPr>
                    </a:p>
                  </a:txBody>
                  <a:tcPr marL="73152" marR="45720" marT="36576" marB="36576"/>
                </a:tc>
                <a:extLst>
                  <a:ext uri="{0D108BD9-81ED-4DB2-BD59-A6C34878D82A}">
                    <a16:rowId xmlns:a16="http://schemas.microsoft.com/office/drawing/2014/main" val="10002"/>
                  </a:ext>
                </a:extLst>
              </a:tr>
              <a:tr h="640080">
                <a:tc>
                  <a:txBody>
                    <a:bodyPr/>
                    <a:lstStyle/>
                    <a:p>
                      <a:pPr>
                        <a:defRPr sz="1250">
                          <a:solidFill>
                            <a:srgbClr val="232323"/>
                          </a:solidFill>
                          <a:latin typeface="Aptos"/>
                        </a:defRPr>
                      </a:pPr>
                      <a:r>
                        <a:rPr lang="en-US" sz="1600" dirty="0">
                          <a:latin typeface="+mn-lt"/>
                        </a:rPr>
                        <a:t>Product</a:t>
                      </a:r>
                      <a:endParaRPr sz="1600" dirty="0">
                        <a:latin typeface="+mn-lt"/>
                      </a:endParaRPr>
                    </a:p>
                  </a:txBody>
                  <a:tcPr marL="73152" marR="45720" marT="36576" marB="36576"/>
                </a:tc>
                <a:tc>
                  <a:txBody>
                    <a:bodyPr/>
                    <a:lstStyle/>
                    <a:p>
                      <a:pPr>
                        <a:defRPr sz="1250">
                          <a:solidFill>
                            <a:srgbClr val="232323"/>
                          </a:solidFill>
                          <a:latin typeface="Aptos"/>
                        </a:defRPr>
                      </a:pPr>
                      <a:r>
                        <a:rPr lang="en-US" sz="1600" dirty="0">
                          <a:latin typeface="+mn-lt"/>
                        </a:rPr>
                        <a:t>Product_ID(PK), </a:t>
                      </a:r>
                      <a:r>
                        <a:rPr lang="en-US" sz="1600" dirty="0" err="1">
                          <a:latin typeface="+mn-lt"/>
                        </a:rPr>
                        <a:t>Product_Name</a:t>
                      </a:r>
                      <a:r>
                        <a:rPr lang="en-US" sz="1600" dirty="0">
                          <a:latin typeface="+mn-lt"/>
                        </a:rPr>
                        <a:t>, Description, Price, </a:t>
                      </a:r>
                      <a:r>
                        <a:rPr lang="en-US" sz="1600" dirty="0" err="1">
                          <a:latin typeface="+mn-lt"/>
                        </a:rPr>
                        <a:t>Stock_Quantity</a:t>
                      </a:r>
                      <a:r>
                        <a:rPr lang="en-US" sz="1600" dirty="0">
                          <a:latin typeface="+mn-lt"/>
                        </a:rPr>
                        <a:t>, Brand, </a:t>
                      </a:r>
                      <a:r>
                        <a:rPr lang="en-US" sz="1600" dirty="0" err="1">
                          <a:latin typeface="+mn-lt"/>
                        </a:rPr>
                        <a:t>Category,_ID</a:t>
                      </a:r>
                      <a:r>
                        <a:rPr lang="en-US" sz="1600" dirty="0">
                          <a:latin typeface="+mn-lt"/>
                        </a:rPr>
                        <a:t>(FK)</a:t>
                      </a:r>
                    </a:p>
                  </a:txBody>
                  <a:tcPr marL="73152" marR="45720" marT="36576" marB="36576"/>
                </a:tc>
                <a:extLst>
                  <a:ext uri="{0D108BD9-81ED-4DB2-BD59-A6C34878D82A}">
                    <a16:rowId xmlns:a16="http://schemas.microsoft.com/office/drawing/2014/main" val="10004"/>
                  </a:ext>
                </a:extLst>
              </a:tr>
              <a:tr h="6400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sz="1250">
                          <a:solidFill>
                            <a:srgbClr val="232323"/>
                          </a:solidFill>
                          <a:latin typeface="Aptos"/>
                        </a:defRPr>
                      </a:pPr>
                      <a:r>
                        <a:rPr lang="en-US" sz="1600" dirty="0">
                          <a:latin typeface="+mn-lt"/>
                        </a:rPr>
                        <a:t>Address</a:t>
                      </a:r>
                    </a:p>
                    <a:p>
                      <a:pPr>
                        <a:defRPr sz="1250">
                          <a:solidFill>
                            <a:srgbClr val="232323"/>
                          </a:solidFill>
                          <a:latin typeface="Aptos"/>
                        </a:defRPr>
                      </a:pPr>
                      <a:endParaRPr sz="1600" dirty="0">
                        <a:latin typeface="+mn-lt"/>
                      </a:endParaRPr>
                    </a:p>
                  </a:txBody>
                  <a:tcPr marL="73152" marR="45720" marT="36576" marB="36576"/>
                </a:tc>
                <a:tc>
                  <a:txBody>
                    <a:bodyPr/>
                    <a:lstStyle/>
                    <a:p>
                      <a:pPr>
                        <a:defRPr sz="1250">
                          <a:solidFill>
                            <a:srgbClr val="232323"/>
                          </a:solidFill>
                          <a:latin typeface="Aptos"/>
                        </a:defRPr>
                      </a:pPr>
                      <a:r>
                        <a:rPr lang="en-US" sz="1600" dirty="0" err="1">
                          <a:latin typeface="+mn-lt"/>
                        </a:rPr>
                        <a:t>Address_ID</a:t>
                      </a:r>
                      <a:r>
                        <a:rPr lang="en-US" sz="1600" dirty="0">
                          <a:latin typeface="+mn-lt"/>
                        </a:rPr>
                        <a:t>(PK), </a:t>
                      </a:r>
                      <a:r>
                        <a:rPr lang="en-US" sz="1600" dirty="0" err="1">
                          <a:latin typeface="+mn-lt"/>
                        </a:rPr>
                        <a:t>Customer_ID</a:t>
                      </a:r>
                      <a:r>
                        <a:rPr lang="en-US" sz="1600" dirty="0">
                          <a:latin typeface="+mn-lt"/>
                        </a:rPr>
                        <a:t>(FK), </a:t>
                      </a:r>
                      <a:r>
                        <a:rPr lang="en-US" sz="1600" dirty="0" err="1">
                          <a:latin typeface="+mn-lt"/>
                        </a:rPr>
                        <a:t>House_NO</a:t>
                      </a:r>
                      <a:r>
                        <a:rPr lang="en-US" sz="1600" dirty="0">
                          <a:latin typeface="+mn-lt"/>
                        </a:rPr>
                        <a:t>, Street, City, State, </a:t>
                      </a:r>
                    </a:p>
                    <a:p>
                      <a:pPr>
                        <a:defRPr sz="1250">
                          <a:solidFill>
                            <a:srgbClr val="232323"/>
                          </a:solidFill>
                          <a:latin typeface="Aptos"/>
                        </a:defRPr>
                      </a:pPr>
                      <a:r>
                        <a:rPr lang="en-US" sz="1600" dirty="0" err="1">
                          <a:latin typeface="+mn-lt"/>
                        </a:rPr>
                        <a:t>Pincode</a:t>
                      </a:r>
                      <a:endParaRPr sz="1600" dirty="0">
                        <a:latin typeface="+mn-lt"/>
                      </a:endParaRPr>
                    </a:p>
                  </a:txBody>
                  <a:tcPr marL="73152" marR="45720" marT="36576" marB="36576"/>
                </a:tc>
                <a:extLst>
                  <a:ext uri="{0D108BD9-81ED-4DB2-BD59-A6C34878D82A}">
                    <a16:rowId xmlns:a16="http://schemas.microsoft.com/office/drawing/2014/main" val="10005"/>
                  </a:ext>
                </a:extLst>
              </a:tr>
              <a:tr h="640080">
                <a:tc>
                  <a:txBody>
                    <a:bodyPr/>
                    <a:lstStyle/>
                    <a:p>
                      <a:pPr>
                        <a:defRPr sz="1250">
                          <a:solidFill>
                            <a:srgbClr val="232323"/>
                          </a:solidFill>
                          <a:latin typeface="Aptos"/>
                        </a:defRPr>
                      </a:pPr>
                      <a:r>
                        <a:rPr lang="en-US" sz="1600" dirty="0">
                          <a:latin typeface="+mn-lt"/>
                        </a:rPr>
                        <a:t>Orders</a:t>
                      </a:r>
                      <a:endParaRPr sz="1600" dirty="0">
                        <a:latin typeface="+mn-lt"/>
                      </a:endParaRPr>
                    </a:p>
                  </a:txBody>
                  <a:tcPr marL="73152" marR="45720" marT="36576" marB="36576"/>
                </a:tc>
                <a:tc>
                  <a:txBody>
                    <a:bodyPr/>
                    <a:lstStyle/>
                    <a:p>
                      <a:pPr>
                        <a:defRPr sz="1250">
                          <a:solidFill>
                            <a:srgbClr val="232323"/>
                          </a:solidFill>
                          <a:latin typeface="Aptos"/>
                        </a:defRPr>
                      </a:pPr>
                      <a:r>
                        <a:rPr lang="en-US" sz="1600" dirty="0" err="1">
                          <a:latin typeface="+mn-lt"/>
                        </a:rPr>
                        <a:t>Order_ID</a:t>
                      </a:r>
                      <a:r>
                        <a:rPr lang="en-US" sz="1600" dirty="0">
                          <a:latin typeface="+mn-lt"/>
                        </a:rPr>
                        <a:t>(PK), </a:t>
                      </a:r>
                      <a:r>
                        <a:rPr lang="en-US" sz="1600" dirty="0" err="1">
                          <a:latin typeface="+mn-lt"/>
                        </a:rPr>
                        <a:t>Customer_ID</a:t>
                      </a:r>
                      <a:r>
                        <a:rPr lang="en-US" sz="1600" dirty="0">
                          <a:latin typeface="+mn-lt"/>
                        </a:rPr>
                        <a:t>(FK), </a:t>
                      </a:r>
                      <a:r>
                        <a:rPr lang="en-US" sz="1600" dirty="0" err="1">
                          <a:latin typeface="+mn-lt"/>
                        </a:rPr>
                        <a:t>Address_ID</a:t>
                      </a:r>
                      <a:r>
                        <a:rPr lang="en-US" sz="1600" dirty="0">
                          <a:latin typeface="+mn-lt"/>
                        </a:rPr>
                        <a:t>(FK), </a:t>
                      </a:r>
                      <a:r>
                        <a:rPr lang="en-US" sz="1600" dirty="0" err="1">
                          <a:latin typeface="+mn-lt"/>
                        </a:rPr>
                        <a:t>Order_Date</a:t>
                      </a:r>
                      <a:r>
                        <a:rPr lang="en-US" sz="1600" dirty="0">
                          <a:latin typeface="+mn-lt"/>
                        </a:rPr>
                        <a:t>, </a:t>
                      </a:r>
                    </a:p>
                    <a:p>
                      <a:pPr>
                        <a:defRPr sz="1250">
                          <a:solidFill>
                            <a:srgbClr val="232323"/>
                          </a:solidFill>
                          <a:latin typeface="Aptos"/>
                        </a:defRPr>
                      </a:pPr>
                      <a:r>
                        <a:rPr lang="en-US" sz="1600" dirty="0" err="1">
                          <a:latin typeface="+mn-lt"/>
                        </a:rPr>
                        <a:t>Toatl_Amount</a:t>
                      </a:r>
                      <a:r>
                        <a:rPr lang="en-US" sz="1600" dirty="0">
                          <a:latin typeface="+mn-lt"/>
                        </a:rPr>
                        <a:t>, </a:t>
                      </a:r>
                      <a:r>
                        <a:rPr lang="en-US" sz="1600" dirty="0" err="1">
                          <a:latin typeface="+mn-lt"/>
                        </a:rPr>
                        <a:t>Order_Status</a:t>
                      </a:r>
                      <a:endParaRPr sz="1600" dirty="0">
                        <a:latin typeface="+mn-lt"/>
                      </a:endParaRPr>
                    </a:p>
                  </a:txBody>
                  <a:tcPr marL="73152" marR="45720" marT="36576" marB="36576"/>
                </a:tc>
                <a:extLst>
                  <a:ext uri="{0D108BD9-81ED-4DB2-BD59-A6C34878D82A}">
                    <a16:rowId xmlns:a16="http://schemas.microsoft.com/office/drawing/2014/main" val="10006"/>
                  </a:ext>
                </a:extLst>
              </a:tr>
            </a:tbl>
          </a:graphicData>
        </a:graphic>
      </p:graphicFrame>
      <p:sp>
        <p:nvSpPr>
          <p:cNvPr id="7" name="TextBox 6">
            <a:extLst>
              <a:ext uri="{FF2B5EF4-FFF2-40B4-BE49-F238E27FC236}">
                <a16:creationId xmlns:a16="http://schemas.microsoft.com/office/drawing/2014/main" id="{DDCA0F39-77DD-9EFF-C342-12C8E3957B34}"/>
              </a:ext>
            </a:extLst>
          </p:cNvPr>
          <p:cNvSpPr txBox="1"/>
          <p:nvPr/>
        </p:nvSpPr>
        <p:spPr>
          <a:xfrm>
            <a:off x="9482721" y="5966935"/>
            <a:ext cx="2084439" cy="646331"/>
          </a:xfrm>
          <a:prstGeom prst="rect">
            <a:avLst/>
          </a:prstGeom>
          <a:noFill/>
        </p:spPr>
        <p:txBody>
          <a:bodyPr wrap="square" rtlCol="0">
            <a:spAutoFit/>
          </a:bodyPr>
          <a:lstStyle/>
          <a:p>
            <a:r>
              <a:rPr lang="en-IN" b="1" dirty="0"/>
              <a:t>Next Slide....</a:t>
            </a:r>
            <a:endParaRPr lang="en-IN" dirty="0"/>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D8E5A-097A-B4C4-4CAA-DEB166F9ADA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68A28B2-B6FF-1278-D0D5-08283D81F70D}"/>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86F8837-76D2-52CE-6470-D5D943E6BF8D}"/>
              </a:ext>
            </a:extLst>
          </p:cNvPr>
          <p:cNvSpPr txBox="1"/>
          <p:nvPr/>
        </p:nvSpPr>
        <p:spPr>
          <a:xfrm>
            <a:off x="594360" y="320040"/>
            <a:ext cx="10972800" cy="594360"/>
          </a:xfrm>
          <a:prstGeom prst="rect">
            <a:avLst/>
          </a:prstGeom>
          <a:noFill/>
        </p:spPr>
        <p:txBody>
          <a:bodyPr wrap="none">
            <a:spAutoFit/>
          </a:bodyPr>
          <a:lstStyle/>
          <a:p>
            <a:pPr>
              <a:defRPr sz="2800" b="1">
                <a:solidFill>
                  <a:srgbClr val="182D4A"/>
                </a:solidFill>
                <a:latin typeface="Aptos Display"/>
              </a:defRPr>
            </a:pPr>
            <a:r>
              <a:t>5. Entities and Attributes</a:t>
            </a:r>
          </a:p>
        </p:txBody>
      </p:sp>
      <p:sp>
        <p:nvSpPr>
          <p:cNvPr id="4" name="TextBox 3">
            <a:extLst>
              <a:ext uri="{FF2B5EF4-FFF2-40B4-BE49-F238E27FC236}">
                <a16:creationId xmlns:a16="http://schemas.microsoft.com/office/drawing/2014/main" id="{AF737110-5FA7-DD13-F08F-462B7ADAD5DB}"/>
              </a:ext>
            </a:extLst>
          </p:cNvPr>
          <p:cNvSpPr txBox="1"/>
          <p:nvPr/>
        </p:nvSpPr>
        <p:spPr>
          <a:xfrm>
            <a:off x="621792" y="888558"/>
            <a:ext cx="3727174" cy="292388"/>
          </a:xfrm>
          <a:prstGeom prst="rect">
            <a:avLst/>
          </a:prstGeom>
          <a:noFill/>
        </p:spPr>
        <p:txBody>
          <a:bodyPr wrap="none">
            <a:spAutoFit/>
          </a:bodyPr>
          <a:lstStyle/>
          <a:p>
            <a:pPr>
              <a:defRPr sz="1300">
                <a:solidFill>
                  <a:srgbClr val="5F6973"/>
                </a:solidFill>
                <a:latin typeface="Aptos"/>
              </a:defRPr>
            </a:pPr>
            <a:r>
              <a:rPr lang="en-US" dirty="0"/>
              <a:t>Nine</a:t>
            </a:r>
            <a:r>
              <a:rPr dirty="0"/>
              <a:t> entities identified for the proposed database</a:t>
            </a:r>
          </a:p>
        </p:txBody>
      </p:sp>
      <p:sp>
        <p:nvSpPr>
          <p:cNvPr id="5" name="Rectangle 4">
            <a:extLst>
              <a:ext uri="{FF2B5EF4-FFF2-40B4-BE49-F238E27FC236}">
                <a16:creationId xmlns:a16="http://schemas.microsoft.com/office/drawing/2014/main" id="{78790184-D49D-B543-E2A4-1D34ACD39F08}"/>
              </a:ext>
            </a:extLst>
          </p:cNvPr>
          <p:cNvSpPr/>
          <p:nvPr/>
        </p:nvSpPr>
        <p:spPr>
          <a:xfrm>
            <a:off x="594360" y="1254318"/>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a:extLst>
              <a:ext uri="{FF2B5EF4-FFF2-40B4-BE49-F238E27FC236}">
                <a16:creationId xmlns:a16="http://schemas.microsoft.com/office/drawing/2014/main" id="{1937A711-5431-61B4-99FB-2EFEE5FBDB09}"/>
              </a:ext>
            </a:extLst>
          </p:cNvPr>
          <p:cNvGraphicFramePr>
            <a:graphicFrameLocks noGrp="1"/>
          </p:cNvGraphicFramePr>
          <p:nvPr>
            <p:extLst>
              <p:ext uri="{D42A27DB-BD31-4B8C-83A1-F6EECF244321}">
                <p14:modId xmlns:p14="http://schemas.microsoft.com/office/powerpoint/2010/main" val="1782574095"/>
              </p:ext>
            </p:extLst>
          </p:nvPr>
        </p:nvGraphicFramePr>
        <p:xfrm>
          <a:off x="594360" y="1371600"/>
          <a:ext cx="10972800" cy="3364992"/>
        </p:xfrm>
        <a:graphic>
          <a:graphicData uri="http://schemas.openxmlformats.org/drawingml/2006/table">
            <a:tbl>
              <a:tblPr firstRow="1" bandRow="1">
                <a:tableStyleId>{073A0DAA-6AF3-43AB-8588-CEC1D06C72B9}</a:tableStyleId>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640080">
                <a:tc>
                  <a:txBody>
                    <a:bodyPr/>
                    <a:lstStyle/>
                    <a:p>
                      <a:pPr>
                        <a:defRPr sz="1250" b="1">
                          <a:solidFill>
                            <a:srgbClr val="FFFFFF"/>
                          </a:solidFill>
                          <a:latin typeface="Aptos"/>
                        </a:defRPr>
                      </a:pPr>
                      <a:r>
                        <a:rPr sz="1400" dirty="0">
                          <a:latin typeface="+mn-lt"/>
                        </a:rPr>
                        <a:t>Entity</a:t>
                      </a:r>
                    </a:p>
                  </a:txBody>
                  <a:tcPr marL="73152" marR="45720" marT="36576" marB="36576"/>
                </a:tc>
                <a:tc>
                  <a:txBody>
                    <a:bodyPr/>
                    <a:lstStyle/>
                    <a:p>
                      <a:pPr>
                        <a:defRPr sz="1250" b="1">
                          <a:solidFill>
                            <a:srgbClr val="FFFFFF"/>
                          </a:solidFill>
                          <a:latin typeface="Aptos"/>
                        </a:defRPr>
                      </a:pPr>
                      <a:r>
                        <a:rPr sz="1400">
                          <a:latin typeface="+mn-lt"/>
                        </a:rPr>
                        <a:t>Key attributes</a:t>
                      </a:r>
                    </a:p>
                  </a:txBody>
                  <a:tcPr marL="73152" marR="45720" marT="36576" marB="36576"/>
                </a:tc>
                <a:extLst>
                  <a:ext uri="{0D108BD9-81ED-4DB2-BD59-A6C34878D82A}">
                    <a16:rowId xmlns:a16="http://schemas.microsoft.com/office/drawing/2014/main" val="10000"/>
                  </a:ext>
                </a:extLst>
              </a:tr>
              <a:tr h="640080">
                <a:tc>
                  <a:txBody>
                    <a:bodyPr/>
                    <a:lstStyle/>
                    <a:p>
                      <a:pPr>
                        <a:defRPr sz="1250">
                          <a:solidFill>
                            <a:srgbClr val="232323"/>
                          </a:solidFill>
                          <a:latin typeface="Aptos"/>
                        </a:defRPr>
                      </a:pPr>
                      <a:r>
                        <a:rPr lang="en-US" sz="1600" dirty="0">
                          <a:latin typeface="+mn-lt"/>
                        </a:rPr>
                        <a:t>Cart</a:t>
                      </a:r>
                      <a:endParaRPr sz="1600" dirty="0">
                        <a:latin typeface="+mn-lt"/>
                      </a:endParaRPr>
                    </a:p>
                  </a:txBody>
                  <a:tcPr marL="73152" marR="45720" marT="36576" marB="36576"/>
                </a:tc>
                <a:tc>
                  <a:txBody>
                    <a:bodyPr/>
                    <a:lstStyle/>
                    <a:p>
                      <a:pPr>
                        <a:defRPr sz="1250">
                          <a:solidFill>
                            <a:srgbClr val="232323"/>
                          </a:solidFill>
                          <a:latin typeface="Aptos"/>
                        </a:defRPr>
                      </a:pPr>
                      <a:r>
                        <a:rPr lang="en-US" sz="1600" dirty="0" err="1">
                          <a:latin typeface="+mn-lt"/>
                        </a:rPr>
                        <a:t>Cart_ID</a:t>
                      </a:r>
                      <a:r>
                        <a:rPr lang="en-US" sz="1600" dirty="0">
                          <a:latin typeface="+mn-lt"/>
                        </a:rPr>
                        <a:t>(PK), </a:t>
                      </a:r>
                      <a:r>
                        <a:rPr lang="en-US" sz="1600" dirty="0" err="1">
                          <a:latin typeface="+mn-lt"/>
                        </a:rPr>
                        <a:t>Customer_ID</a:t>
                      </a:r>
                      <a:r>
                        <a:rPr lang="en-US" sz="1600" dirty="0">
                          <a:latin typeface="+mn-lt"/>
                        </a:rPr>
                        <a:t>(FK), Product_ID(FK), Quantity, </a:t>
                      </a:r>
                      <a:r>
                        <a:rPr lang="en-US" sz="1600" dirty="0" err="1">
                          <a:latin typeface="+mn-lt"/>
                        </a:rPr>
                        <a:t>Added_Date</a:t>
                      </a:r>
                      <a:endParaRPr sz="1600" dirty="0">
                        <a:latin typeface="+mn-lt"/>
                      </a:endParaRPr>
                    </a:p>
                  </a:txBody>
                  <a:tcPr marL="73152" marR="45720" marT="36576" marB="36576"/>
                </a:tc>
                <a:extLst>
                  <a:ext uri="{0D108BD9-81ED-4DB2-BD59-A6C34878D82A}">
                    <a16:rowId xmlns:a16="http://schemas.microsoft.com/office/drawing/2014/main" val="10001"/>
                  </a:ext>
                </a:extLst>
              </a:tr>
              <a:tr h="640080">
                <a:tc>
                  <a:txBody>
                    <a:bodyPr/>
                    <a:lstStyle/>
                    <a:p>
                      <a:pPr>
                        <a:defRPr sz="1250">
                          <a:solidFill>
                            <a:srgbClr val="232323"/>
                          </a:solidFill>
                          <a:latin typeface="Aptos"/>
                        </a:defRPr>
                      </a:pPr>
                      <a:r>
                        <a:rPr lang="en-US" sz="1600" dirty="0">
                          <a:latin typeface="+mn-lt"/>
                        </a:rPr>
                        <a:t>Payment</a:t>
                      </a:r>
                      <a:endParaRPr sz="1600" dirty="0">
                        <a:latin typeface="+mn-lt"/>
                      </a:endParaRPr>
                    </a:p>
                  </a:txBody>
                  <a:tcPr marL="73152" marR="45720" marT="36576" marB="36576"/>
                </a:tc>
                <a:tc>
                  <a:txBody>
                    <a:bodyPr/>
                    <a:lstStyle/>
                    <a:p>
                      <a:pPr>
                        <a:defRPr sz="1250">
                          <a:solidFill>
                            <a:srgbClr val="232323"/>
                          </a:solidFill>
                          <a:latin typeface="Aptos"/>
                        </a:defRPr>
                      </a:pPr>
                      <a:r>
                        <a:rPr lang="en-US" sz="1600" dirty="0" err="1">
                          <a:latin typeface="+mn-lt"/>
                        </a:rPr>
                        <a:t>Payment_ID</a:t>
                      </a:r>
                      <a:r>
                        <a:rPr lang="en-US" sz="1600" dirty="0">
                          <a:latin typeface="+mn-lt"/>
                        </a:rPr>
                        <a:t>(PK), </a:t>
                      </a:r>
                      <a:r>
                        <a:rPr lang="en-US" sz="1600" dirty="0" err="1">
                          <a:latin typeface="+mn-lt"/>
                        </a:rPr>
                        <a:t>Order_ID</a:t>
                      </a:r>
                      <a:r>
                        <a:rPr lang="en-US" sz="1600" dirty="0">
                          <a:latin typeface="+mn-lt"/>
                        </a:rPr>
                        <a:t>(FK), </a:t>
                      </a:r>
                      <a:r>
                        <a:rPr lang="en-US" sz="1600" dirty="0" err="1">
                          <a:latin typeface="+mn-lt"/>
                        </a:rPr>
                        <a:t>Payment_Method</a:t>
                      </a:r>
                      <a:r>
                        <a:rPr lang="en-US" sz="1600" dirty="0">
                          <a:latin typeface="+mn-lt"/>
                        </a:rPr>
                        <a:t>, </a:t>
                      </a:r>
                      <a:r>
                        <a:rPr lang="en-US" sz="1600" dirty="0" err="1">
                          <a:latin typeface="+mn-lt"/>
                        </a:rPr>
                        <a:t>Payment_Date</a:t>
                      </a:r>
                      <a:r>
                        <a:rPr lang="en-US" sz="1600" dirty="0">
                          <a:latin typeface="+mn-lt"/>
                        </a:rPr>
                        <a:t>, Amount, </a:t>
                      </a:r>
                      <a:r>
                        <a:rPr lang="en-US" sz="1600" dirty="0" err="1">
                          <a:latin typeface="+mn-lt"/>
                        </a:rPr>
                        <a:t>Payment_ID</a:t>
                      </a:r>
                      <a:r>
                        <a:rPr lang="en-US" sz="1600" dirty="0">
                          <a:latin typeface="+mn-lt"/>
                        </a:rPr>
                        <a:t>, </a:t>
                      </a:r>
                      <a:r>
                        <a:rPr lang="en-US" sz="1600" dirty="0" err="1">
                          <a:latin typeface="+mn-lt"/>
                        </a:rPr>
                        <a:t>Trasaction_ID</a:t>
                      </a:r>
                      <a:endParaRPr sz="1600" dirty="0">
                        <a:latin typeface="+mn-lt"/>
                      </a:endParaRPr>
                    </a:p>
                  </a:txBody>
                  <a:tcPr marL="73152" marR="45720" marT="36576" marB="36576"/>
                </a:tc>
                <a:extLst>
                  <a:ext uri="{0D108BD9-81ED-4DB2-BD59-A6C34878D82A}">
                    <a16:rowId xmlns:a16="http://schemas.microsoft.com/office/drawing/2014/main" val="10003"/>
                  </a:ext>
                </a:extLst>
              </a:tr>
              <a:tr h="640080">
                <a:tc>
                  <a:txBody>
                    <a:bodyPr/>
                    <a:lstStyle/>
                    <a:p>
                      <a:pPr>
                        <a:defRPr sz="1250">
                          <a:solidFill>
                            <a:srgbClr val="232323"/>
                          </a:solidFill>
                          <a:latin typeface="Aptos"/>
                        </a:defRPr>
                      </a:pPr>
                      <a:r>
                        <a:rPr lang="en-US" sz="1600" dirty="0">
                          <a:latin typeface="+mn-lt"/>
                        </a:rPr>
                        <a:t>Shipment</a:t>
                      </a:r>
                      <a:endParaRPr sz="1600" dirty="0">
                        <a:latin typeface="+mn-lt"/>
                      </a:endParaRPr>
                    </a:p>
                  </a:txBody>
                  <a:tcPr marL="73152" marR="45720" marT="36576" marB="36576"/>
                </a:tc>
                <a:tc>
                  <a:txBody>
                    <a:bodyPr/>
                    <a:lstStyle/>
                    <a:p>
                      <a:pPr>
                        <a:defRPr sz="1250">
                          <a:solidFill>
                            <a:srgbClr val="232323"/>
                          </a:solidFill>
                          <a:latin typeface="Aptos"/>
                        </a:defRPr>
                      </a:pPr>
                      <a:r>
                        <a:rPr lang="en-US" sz="1600" dirty="0" err="1">
                          <a:latin typeface="+mn-lt"/>
                        </a:rPr>
                        <a:t>Shipment_ID</a:t>
                      </a:r>
                      <a:r>
                        <a:rPr lang="en-US" sz="1600" dirty="0">
                          <a:latin typeface="+mn-lt"/>
                        </a:rPr>
                        <a:t>(PK), </a:t>
                      </a:r>
                      <a:r>
                        <a:rPr lang="en-US" sz="1600" dirty="0" err="1">
                          <a:latin typeface="+mn-lt"/>
                        </a:rPr>
                        <a:t>Order_ID</a:t>
                      </a:r>
                      <a:r>
                        <a:rPr lang="en-US" sz="1600" dirty="0">
                          <a:latin typeface="+mn-lt"/>
                        </a:rPr>
                        <a:t>(FK), </a:t>
                      </a:r>
                      <a:r>
                        <a:rPr lang="en-US" sz="1600" dirty="0" err="1">
                          <a:latin typeface="+mn-lt"/>
                        </a:rPr>
                        <a:t>Courier_Name</a:t>
                      </a:r>
                      <a:r>
                        <a:rPr lang="en-US" sz="1600" dirty="0">
                          <a:latin typeface="+mn-lt"/>
                        </a:rPr>
                        <a:t>, </a:t>
                      </a:r>
                      <a:r>
                        <a:rPr lang="en-US" sz="1600" dirty="0" err="1">
                          <a:latin typeface="+mn-lt"/>
                        </a:rPr>
                        <a:t>Tracking_Number</a:t>
                      </a:r>
                      <a:r>
                        <a:rPr lang="en-US" sz="1600" dirty="0">
                          <a:latin typeface="+mn-lt"/>
                        </a:rPr>
                        <a:t>, </a:t>
                      </a:r>
                      <a:r>
                        <a:rPr lang="en-US" sz="1600" dirty="0" err="1">
                          <a:latin typeface="+mn-lt"/>
                        </a:rPr>
                        <a:t>Shipment_Date</a:t>
                      </a:r>
                      <a:r>
                        <a:rPr lang="en-US" sz="1600" dirty="0">
                          <a:latin typeface="+mn-lt"/>
                        </a:rPr>
                        <a:t>, </a:t>
                      </a:r>
                      <a:r>
                        <a:rPr lang="en-US" sz="1600" dirty="0" err="1">
                          <a:latin typeface="+mn-lt"/>
                        </a:rPr>
                        <a:t>Delivery_Date</a:t>
                      </a:r>
                      <a:r>
                        <a:rPr lang="en-US" sz="1600" dirty="0">
                          <a:latin typeface="+mn-lt"/>
                        </a:rPr>
                        <a:t>, </a:t>
                      </a:r>
                      <a:r>
                        <a:rPr lang="en-US" sz="1600" dirty="0" err="1">
                          <a:latin typeface="+mn-lt"/>
                        </a:rPr>
                        <a:t>Shipment_Status</a:t>
                      </a:r>
                      <a:endParaRPr sz="1600" dirty="0">
                        <a:latin typeface="+mn-lt"/>
                      </a:endParaRPr>
                    </a:p>
                  </a:txBody>
                  <a:tcPr marL="73152" marR="45720" marT="36576" marB="36576"/>
                </a:tc>
                <a:extLst>
                  <a:ext uri="{0D108BD9-81ED-4DB2-BD59-A6C34878D82A}">
                    <a16:rowId xmlns:a16="http://schemas.microsoft.com/office/drawing/2014/main" val="10005"/>
                  </a:ext>
                </a:extLst>
              </a:tr>
              <a:tr h="640080">
                <a:tc>
                  <a:txBody>
                    <a:bodyPr/>
                    <a:lstStyle/>
                    <a:p>
                      <a:pPr>
                        <a:defRPr sz="1250">
                          <a:solidFill>
                            <a:srgbClr val="232323"/>
                          </a:solidFill>
                          <a:latin typeface="Aptos"/>
                        </a:defRPr>
                      </a:pPr>
                      <a:r>
                        <a:rPr lang="en-US" sz="1600" dirty="0">
                          <a:latin typeface="+mn-lt"/>
                        </a:rPr>
                        <a:t>Review</a:t>
                      </a:r>
                      <a:endParaRPr sz="1600" dirty="0">
                        <a:latin typeface="+mn-lt"/>
                      </a:endParaRPr>
                    </a:p>
                  </a:txBody>
                  <a:tcPr marL="73152" marR="45720" marT="36576" marB="36576"/>
                </a:tc>
                <a:tc>
                  <a:txBody>
                    <a:bodyPr/>
                    <a:lstStyle/>
                    <a:p>
                      <a:pPr>
                        <a:defRPr sz="1250">
                          <a:solidFill>
                            <a:srgbClr val="232323"/>
                          </a:solidFill>
                          <a:latin typeface="Aptos"/>
                        </a:defRPr>
                      </a:pPr>
                      <a:r>
                        <a:rPr lang="en-US" sz="1600" dirty="0" err="1">
                          <a:latin typeface="+mn-lt"/>
                        </a:rPr>
                        <a:t>Review_ID</a:t>
                      </a:r>
                      <a:r>
                        <a:rPr lang="en-US" sz="1600" dirty="0">
                          <a:latin typeface="+mn-lt"/>
                        </a:rPr>
                        <a:t>(PK), </a:t>
                      </a:r>
                      <a:r>
                        <a:rPr lang="en-US" sz="1600" dirty="0" err="1">
                          <a:latin typeface="+mn-lt"/>
                        </a:rPr>
                        <a:t>Customer_ID</a:t>
                      </a:r>
                      <a:r>
                        <a:rPr lang="en-US" sz="1600" dirty="0">
                          <a:latin typeface="+mn-lt"/>
                        </a:rPr>
                        <a:t>(FK), Product_ID(FK), Rating, </a:t>
                      </a:r>
                      <a:r>
                        <a:rPr lang="en-US" sz="1600" dirty="0" err="1">
                          <a:latin typeface="+mn-lt"/>
                        </a:rPr>
                        <a:t>Review_Text</a:t>
                      </a:r>
                      <a:r>
                        <a:rPr lang="en-US" sz="1600" dirty="0">
                          <a:latin typeface="+mn-lt"/>
                        </a:rPr>
                        <a:t>, </a:t>
                      </a:r>
                      <a:r>
                        <a:rPr lang="en-US" sz="1600" dirty="0" err="1">
                          <a:latin typeface="+mn-lt"/>
                        </a:rPr>
                        <a:t>Review_Date</a:t>
                      </a:r>
                      <a:endParaRPr sz="1600" dirty="0">
                        <a:latin typeface="+mn-lt"/>
                      </a:endParaRPr>
                    </a:p>
                  </a:txBody>
                  <a:tcPr marL="73152" marR="45720" marT="36576" marB="36576"/>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241112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82D4A"/>
                </a:solidFill>
                <a:latin typeface="Aptos Display"/>
              </a:defRPr>
            </a:pPr>
            <a:r>
              <a:rPr dirty="0"/>
              <a:t>6. Relationships and Cardinality</a:t>
            </a:r>
          </a:p>
        </p:txBody>
      </p:sp>
      <p:sp>
        <p:nvSpPr>
          <p:cNvPr id="4" name="Rectangle 3"/>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extLst>
              <p:ext uri="{D42A27DB-BD31-4B8C-83A1-F6EECF244321}">
                <p14:modId xmlns:p14="http://schemas.microsoft.com/office/powerpoint/2010/main" val="1753092188"/>
              </p:ext>
            </p:extLst>
          </p:nvPr>
        </p:nvGraphicFramePr>
        <p:xfrm>
          <a:off x="479324" y="1175037"/>
          <a:ext cx="11202872" cy="5451218"/>
        </p:xfrm>
        <a:graphic>
          <a:graphicData uri="http://schemas.openxmlformats.org/drawingml/2006/table">
            <a:tbl>
              <a:tblPr firstRow="1" bandRow="1">
                <a:tableStyleId>{5940675A-B579-460E-94D1-54222C63F5DA}</a:tableStyleId>
              </a:tblPr>
              <a:tblGrid>
                <a:gridCol w="3735274">
                  <a:extLst>
                    <a:ext uri="{9D8B030D-6E8A-4147-A177-3AD203B41FA5}">
                      <a16:colId xmlns:a16="http://schemas.microsoft.com/office/drawing/2014/main" val="20000"/>
                    </a:ext>
                  </a:extLst>
                </a:gridCol>
                <a:gridCol w="3733799">
                  <a:extLst>
                    <a:ext uri="{9D8B030D-6E8A-4147-A177-3AD203B41FA5}">
                      <a16:colId xmlns:a16="http://schemas.microsoft.com/office/drawing/2014/main" val="20001"/>
                    </a:ext>
                  </a:extLst>
                </a:gridCol>
                <a:gridCol w="3733799">
                  <a:extLst>
                    <a:ext uri="{9D8B030D-6E8A-4147-A177-3AD203B41FA5}">
                      <a16:colId xmlns:a16="http://schemas.microsoft.com/office/drawing/2014/main" val="20002"/>
                    </a:ext>
                  </a:extLst>
                </a:gridCol>
              </a:tblGrid>
              <a:tr h="469458">
                <a:tc>
                  <a:txBody>
                    <a:bodyPr/>
                    <a:lstStyle/>
                    <a:p>
                      <a:pPr>
                        <a:defRPr sz="1250" b="1">
                          <a:solidFill>
                            <a:srgbClr val="FFFFFF"/>
                          </a:solidFill>
                          <a:latin typeface="Aptos"/>
                        </a:defRPr>
                      </a:pPr>
                      <a:r>
                        <a:rPr sz="1600" dirty="0">
                          <a:solidFill>
                            <a:schemeClr val="tx1"/>
                          </a:solidFill>
                          <a:latin typeface="+mn-lt"/>
                        </a:rPr>
                        <a:t>Relationship</a:t>
                      </a:r>
                    </a:p>
                  </a:txBody>
                  <a:tcPr marL="73152" marR="45720" marT="36576" marB="36576"/>
                </a:tc>
                <a:tc>
                  <a:txBody>
                    <a:bodyPr/>
                    <a:lstStyle/>
                    <a:p>
                      <a:pPr>
                        <a:defRPr sz="1250" b="1">
                          <a:solidFill>
                            <a:srgbClr val="FFFFFF"/>
                          </a:solidFill>
                          <a:latin typeface="Aptos"/>
                        </a:defRPr>
                      </a:pPr>
                      <a:r>
                        <a:rPr sz="1600" dirty="0">
                          <a:solidFill>
                            <a:schemeClr val="tx1"/>
                          </a:solidFill>
                          <a:latin typeface="+mn-lt"/>
                        </a:rPr>
                        <a:t>Cardinality</a:t>
                      </a:r>
                    </a:p>
                  </a:txBody>
                  <a:tcPr marL="73152" marR="45720" marT="36576" marB="36576"/>
                </a:tc>
                <a:tc>
                  <a:txBody>
                    <a:bodyPr/>
                    <a:lstStyle/>
                    <a:p>
                      <a:pPr>
                        <a:defRPr sz="1250" b="1">
                          <a:solidFill>
                            <a:srgbClr val="FFFFFF"/>
                          </a:solidFill>
                          <a:latin typeface="Aptos"/>
                        </a:defRPr>
                      </a:pPr>
                      <a:r>
                        <a:rPr sz="1600" dirty="0">
                          <a:solidFill>
                            <a:schemeClr val="tx1"/>
                          </a:solidFill>
                          <a:latin typeface="+mn-lt"/>
                        </a:rPr>
                        <a:t>Meaning</a:t>
                      </a:r>
                    </a:p>
                  </a:txBody>
                  <a:tcPr marL="73152" marR="45720" marT="36576" marB="36576"/>
                </a:tc>
                <a:extLst>
                  <a:ext uri="{0D108BD9-81ED-4DB2-BD59-A6C34878D82A}">
                    <a16:rowId xmlns:a16="http://schemas.microsoft.com/office/drawing/2014/main" val="10000"/>
                  </a:ext>
                </a:extLst>
              </a:tr>
              <a:tr h="469458">
                <a:tc>
                  <a:txBody>
                    <a:bodyPr/>
                    <a:lstStyle/>
                    <a:p>
                      <a:pPr>
                        <a:defRPr sz="1250">
                          <a:solidFill>
                            <a:srgbClr val="232323"/>
                          </a:solidFill>
                          <a:latin typeface="Aptos"/>
                        </a:defRPr>
                      </a:pPr>
                      <a:r>
                        <a:rPr lang="en-US" sz="1600" dirty="0">
                          <a:latin typeface="+mn-lt"/>
                        </a:rPr>
                        <a:t>Customer </a:t>
                      </a:r>
                      <a:r>
                        <a:rPr lang="en-IN" sz="1600" kern="1200" dirty="0">
                          <a:solidFill>
                            <a:schemeClr val="tx1"/>
                          </a:solidFill>
                          <a:latin typeface="+mn-lt"/>
                          <a:ea typeface="+mn-ea"/>
                          <a:cs typeface="+mn-cs"/>
                        </a:rPr>
                        <a:t>→ Address</a:t>
                      </a:r>
                      <a:endParaRPr sz="1600" dirty="0">
                        <a:latin typeface="+mn-lt"/>
                      </a:endParaRPr>
                    </a:p>
                  </a:txBody>
                  <a:tcPr marL="73152" marR="45720" marT="36576" marB="36576"/>
                </a:tc>
                <a:tc>
                  <a:txBody>
                    <a:bodyPr/>
                    <a:lstStyle/>
                    <a:p>
                      <a:pPr>
                        <a:defRPr sz="1250">
                          <a:solidFill>
                            <a:srgbClr val="232323"/>
                          </a:solidFill>
                          <a:latin typeface="Aptos"/>
                        </a:defRPr>
                      </a:pPr>
                      <a:r>
                        <a:rPr sz="1600" dirty="0">
                          <a:latin typeface="+mn-lt"/>
                        </a:rPr>
                        <a:t>1 : M</a:t>
                      </a:r>
                    </a:p>
                  </a:txBody>
                  <a:tcPr marL="73152" marR="45720" marT="36576" marB="36576"/>
                </a:tc>
                <a:tc>
                  <a:txBody>
                    <a:bodyPr/>
                    <a:lstStyle/>
                    <a:p>
                      <a:pPr>
                        <a:defRPr sz="1250">
                          <a:solidFill>
                            <a:srgbClr val="232323"/>
                          </a:solidFill>
                          <a:latin typeface="Aptos"/>
                        </a:defRPr>
                      </a:pPr>
                      <a:r>
                        <a:rPr sz="1600" dirty="0">
                          <a:latin typeface="+mn-lt"/>
                        </a:rPr>
                        <a:t>One </a:t>
                      </a:r>
                      <a:r>
                        <a:rPr lang="en-US" sz="1600" dirty="0">
                          <a:latin typeface="+mn-lt"/>
                        </a:rPr>
                        <a:t>customer</a:t>
                      </a:r>
                      <a:r>
                        <a:rPr sz="1600" dirty="0">
                          <a:latin typeface="+mn-lt"/>
                        </a:rPr>
                        <a:t> can have many </a:t>
                      </a:r>
                      <a:r>
                        <a:rPr lang="en-US" sz="1600" dirty="0">
                          <a:latin typeface="+mn-lt"/>
                        </a:rPr>
                        <a:t>addresses</a:t>
                      </a:r>
                      <a:r>
                        <a:rPr sz="1600" dirty="0">
                          <a:latin typeface="+mn-lt"/>
                        </a:rPr>
                        <a:t>.</a:t>
                      </a:r>
                    </a:p>
                  </a:txBody>
                  <a:tcPr marL="73152" marR="45720" marT="36576" marB="36576"/>
                </a:tc>
                <a:extLst>
                  <a:ext uri="{0D108BD9-81ED-4DB2-BD59-A6C34878D82A}">
                    <a16:rowId xmlns:a16="http://schemas.microsoft.com/office/drawing/2014/main" val="10001"/>
                  </a:ext>
                </a:extLst>
              </a:tr>
              <a:tr h="526894">
                <a:tc>
                  <a:txBody>
                    <a:bodyPr/>
                    <a:lstStyle/>
                    <a:p>
                      <a:pPr>
                        <a:defRPr sz="1250">
                          <a:solidFill>
                            <a:srgbClr val="232323"/>
                          </a:solidFill>
                          <a:latin typeface="Aptos"/>
                        </a:defRPr>
                      </a:pPr>
                      <a:r>
                        <a:rPr lang="en-US" sz="1600" dirty="0">
                          <a:latin typeface="+mn-lt"/>
                        </a:rPr>
                        <a:t>Customer </a:t>
                      </a:r>
                      <a:r>
                        <a:rPr lang="en-IN" sz="1600" kern="1200" dirty="0">
                          <a:solidFill>
                            <a:schemeClr val="tx1"/>
                          </a:solidFill>
                          <a:latin typeface="+mn-lt"/>
                          <a:ea typeface="+mn-ea"/>
                          <a:cs typeface="+mn-cs"/>
                        </a:rPr>
                        <a:t>→ Orders</a:t>
                      </a:r>
                      <a:endParaRPr sz="1600" dirty="0">
                        <a:latin typeface="+mn-lt"/>
                      </a:endParaRPr>
                    </a:p>
                  </a:txBody>
                  <a:tcPr marL="73152" marR="45720" marT="36576" marB="36576"/>
                </a:tc>
                <a:tc>
                  <a:txBody>
                    <a:bodyPr/>
                    <a:lstStyle/>
                    <a:p>
                      <a:pPr>
                        <a:defRPr sz="1250">
                          <a:solidFill>
                            <a:srgbClr val="232323"/>
                          </a:solidFill>
                          <a:latin typeface="Aptos"/>
                        </a:defRPr>
                      </a:pPr>
                      <a:r>
                        <a:rPr sz="1600" dirty="0">
                          <a:latin typeface="+mn-lt"/>
                        </a:rPr>
                        <a:t>1 : M</a:t>
                      </a:r>
                    </a:p>
                  </a:txBody>
                  <a:tcPr marL="73152" marR="45720" marT="36576" marB="36576"/>
                </a:tc>
                <a:tc>
                  <a:txBody>
                    <a:bodyPr/>
                    <a:lstStyle/>
                    <a:p>
                      <a:pPr>
                        <a:defRPr sz="1250">
                          <a:solidFill>
                            <a:srgbClr val="232323"/>
                          </a:solidFill>
                          <a:latin typeface="Aptos"/>
                        </a:defRPr>
                      </a:pPr>
                      <a:r>
                        <a:rPr sz="1600" dirty="0">
                          <a:latin typeface="+mn-lt"/>
                        </a:rPr>
                        <a:t>One </a:t>
                      </a:r>
                      <a:r>
                        <a:rPr lang="en-US" sz="1600" dirty="0">
                          <a:latin typeface="+mn-lt"/>
                        </a:rPr>
                        <a:t>customer</a:t>
                      </a:r>
                      <a:r>
                        <a:rPr sz="1600" dirty="0">
                          <a:latin typeface="+mn-lt"/>
                        </a:rPr>
                        <a:t> can </a:t>
                      </a:r>
                      <a:r>
                        <a:rPr lang="en-US" sz="1600" dirty="0">
                          <a:latin typeface="+mn-lt"/>
                        </a:rPr>
                        <a:t>place many orders</a:t>
                      </a:r>
                      <a:r>
                        <a:rPr sz="1600" dirty="0">
                          <a:latin typeface="+mn-lt"/>
                        </a:rPr>
                        <a:t>.</a:t>
                      </a:r>
                    </a:p>
                  </a:txBody>
                  <a:tcPr marL="73152" marR="45720" marT="36576" marB="36576"/>
                </a:tc>
                <a:extLst>
                  <a:ext uri="{0D108BD9-81ED-4DB2-BD59-A6C34878D82A}">
                    <a16:rowId xmlns:a16="http://schemas.microsoft.com/office/drawing/2014/main" val="10002"/>
                  </a:ext>
                </a:extLst>
              </a:tr>
              <a:tr h="469458">
                <a:tc>
                  <a:txBody>
                    <a:bodyPr/>
                    <a:lstStyle/>
                    <a:p>
                      <a:pPr>
                        <a:defRPr sz="1250">
                          <a:solidFill>
                            <a:srgbClr val="232323"/>
                          </a:solidFill>
                          <a:latin typeface="Aptos"/>
                        </a:defRPr>
                      </a:pPr>
                      <a:r>
                        <a:rPr lang="en-US" sz="1600" dirty="0">
                          <a:latin typeface="+mn-lt"/>
                        </a:rPr>
                        <a:t>Address </a:t>
                      </a:r>
                      <a:r>
                        <a:rPr lang="en-IN" sz="1600" kern="1200" dirty="0">
                          <a:solidFill>
                            <a:schemeClr val="tx1"/>
                          </a:solidFill>
                          <a:latin typeface="+mn-lt"/>
                          <a:ea typeface="+mn-ea"/>
                          <a:cs typeface="+mn-cs"/>
                        </a:rPr>
                        <a:t>→ Orders</a:t>
                      </a:r>
                      <a:endParaRPr sz="1600" dirty="0">
                        <a:latin typeface="+mn-lt"/>
                      </a:endParaRPr>
                    </a:p>
                  </a:txBody>
                  <a:tcPr marL="73152" marR="45720" marT="36576" marB="36576"/>
                </a:tc>
                <a:tc>
                  <a:txBody>
                    <a:bodyPr/>
                    <a:lstStyle/>
                    <a:p>
                      <a:pPr>
                        <a:defRPr sz="1250">
                          <a:solidFill>
                            <a:srgbClr val="232323"/>
                          </a:solidFill>
                          <a:latin typeface="Aptos"/>
                        </a:defRPr>
                      </a:pPr>
                      <a:r>
                        <a:rPr sz="1600">
                          <a:latin typeface="+mn-lt"/>
                        </a:rPr>
                        <a:t>1 : M</a:t>
                      </a:r>
                    </a:p>
                  </a:txBody>
                  <a:tcPr marL="73152" marR="45720" marT="36576" marB="36576"/>
                </a:tc>
                <a:tc>
                  <a:txBody>
                    <a:bodyPr/>
                    <a:lstStyle/>
                    <a:p>
                      <a:pPr>
                        <a:defRPr sz="1250">
                          <a:solidFill>
                            <a:srgbClr val="232323"/>
                          </a:solidFill>
                          <a:latin typeface="Aptos"/>
                        </a:defRPr>
                      </a:pPr>
                      <a:r>
                        <a:rPr sz="1600" dirty="0">
                          <a:latin typeface="+mn-lt"/>
                        </a:rPr>
                        <a:t>One </a:t>
                      </a:r>
                      <a:r>
                        <a:rPr lang="en-US" sz="1600" dirty="0">
                          <a:latin typeface="+mn-lt"/>
                        </a:rPr>
                        <a:t>address</a:t>
                      </a:r>
                      <a:r>
                        <a:rPr sz="1600" dirty="0">
                          <a:latin typeface="+mn-lt"/>
                        </a:rPr>
                        <a:t> c</a:t>
                      </a:r>
                      <a:r>
                        <a:rPr lang="en-US" sz="1600" dirty="0">
                          <a:latin typeface="+mn-lt"/>
                        </a:rPr>
                        <a:t>an be used for many orders</a:t>
                      </a:r>
                      <a:r>
                        <a:rPr sz="1600" dirty="0">
                          <a:latin typeface="+mn-lt"/>
                        </a:rPr>
                        <a:t>.</a:t>
                      </a:r>
                    </a:p>
                  </a:txBody>
                  <a:tcPr marL="73152" marR="45720" marT="36576" marB="36576"/>
                </a:tc>
                <a:extLst>
                  <a:ext uri="{0D108BD9-81ED-4DB2-BD59-A6C34878D82A}">
                    <a16:rowId xmlns:a16="http://schemas.microsoft.com/office/drawing/2014/main" val="10003"/>
                  </a:ext>
                </a:extLst>
              </a:tr>
              <a:tr h="526894">
                <a:tc>
                  <a:txBody>
                    <a:bodyPr/>
                    <a:lstStyle/>
                    <a:p>
                      <a:pPr>
                        <a:defRPr sz="1250">
                          <a:solidFill>
                            <a:srgbClr val="232323"/>
                          </a:solidFill>
                          <a:latin typeface="Aptos"/>
                        </a:defRPr>
                      </a:pPr>
                      <a:r>
                        <a:rPr lang="en-US" sz="1600" dirty="0">
                          <a:latin typeface="+mn-lt"/>
                        </a:rPr>
                        <a:t>Category </a:t>
                      </a:r>
                      <a:r>
                        <a:rPr lang="en-IN" sz="1600" kern="1200" dirty="0">
                          <a:solidFill>
                            <a:schemeClr val="tx1"/>
                          </a:solidFill>
                          <a:latin typeface="+mn-lt"/>
                          <a:ea typeface="+mn-ea"/>
                          <a:cs typeface="+mn-cs"/>
                        </a:rPr>
                        <a:t>→ Product</a:t>
                      </a:r>
                      <a:endParaRPr sz="1600" dirty="0">
                        <a:latin typeface="+mn-lt"/>
                      </a:endParaRPr>
                    </a:p>
                  </a:txBody>
                  <a:tcPr marL="73152" marR="45720" marT="36576" marB="36576"/>
                </a:tc>
                <a:tc>
                  <a:txBody>
                    <a:bodyPr/>
                    <a:lstStyle/>
                    <a:p>
                      <a:pPr>
                        <a:defRPr sz="1250">
                          <a:solidFill>
                            <a:srgbClr val="232323"/>
                          </a:solidFill>
                          <a:latin typeface="Aptos"/>
                        </a:defRPr>
                      </a:pPr>
                      <a:r>
                        <a:rPr sz="1600" dirty="0">
                          <a:latin typeface="+mn-lt"/>
                        </a:rPr>
                        <a:t>1 : M</a:t>
                      </a:r>
                    </a:p>
                  </a:txBody>
                  <a:tcPr marL="73152" marR="45720" marT="36576" marB="36576"/>
                </a:tc>
                <a:tc>
                  <a:txBody>
                    <a:bodyPr/>
                    <a:lstStyle/>
                    <a:p>
                      <a:pPr>
                        <a:defRPr sz="1250">
                          <a:solidFill>
                            <a:srgbClr val="232323"/>
                          </a:solidFill>
                          <a:latin typeface="Aptos"/>
                        </a:defRPr>
                      </a:pPr>
                      <a:r>
                        <a:rPr lang="en-US" sz="1600" dirty="0">
                          <a:latin typeface="+mn-lt"/>
                        </a:rPr>
                        <a:t>One category can contain many products.</a:t>
                      </a:r>
                      <a:endParaRPr sz="1600" dirty="0">
                        <a:latin typeface="+mn-lt"/>
                      </a:endParaRPr>
                    </a:p>
                  </a:txBody>
                  <a:tcPr marL="73152" marR="45720" marT="36576" marB="36576"/>
                </a:tc>
                <a:extLst>
                  <a:ext uri="{0D108BD9-81ED-4DB2-BD59-A6C34878D82A}">
                    <a16:rowId xmlns:a16="http://schemas.microsoft.com/office/drawing/2014/main" val="10004"/>
                  </a:ext>
                </a:extLst>
              </a:tr>
              <a:tr h="469458">
                <a:tc>
                  <a:txBody>
                    <a:bodyPr/>
                    <a:lstStyle/>
                    <a:p>
                      <a:pPr>
                        <a:defRPr sz="1250">
                          <a:solidFill>
                            <a:srgbClr val="232323"/>
                          </a:solidFill>
                          <a:latin typeface="Aptos"/>
                        </a:defRPr>
                      </a:pPr>
                      <a:r>
                        <a:rPr lang="en-US" sz="1600" dirty="0">
                          <a:latin typeface="+mn-lt"/>
                        </a:rPr>
                        <a:t>Orders </a:t>
                      </a:r>
                      <a:r>
                        <a:rPr lang="en-IN" sz="1600" kern="1200" dirty="0">
                          <a:solidFill>
                            <a:schemeClr val="tx1"/>
                          </a:solidFill>
                          <a:latin typeface="+mn-lt"/>
                          <a:ea typeface="+mn-ea"/>
                          <a:cs typeface="+mn-cs"/>
                        </a:rPr>
                        <a:t>→ Payment</a:t>
                      </a:r>
                      <a:endParaRPr sz="1600" dirty="0">
                        <a:latin typeface="+mn-lt"/>
                      </a:endParaRPr>
                    </a:p>
                  </a:txBody>
                  <a:tcPr marL="73152" marR="45720" marT="36576" marB="36576"/>
                </a:tc>
                <a:tc>
                  <a:txBody>
                    <a:bodyPr/>
                    <a:lstStyle/>
                    <a:p>
                      <a:pPr>
                        <a:defRPr sz="1250">
                          <a:solidFill>
                            <a:srgbClr val="232323"/>
                          </a:solidFill>
                          <a:latin typeface="Aptos"/>
                        </a:defRPr>
                      </a:pPr>
                      <a:r>
                        <a:rPr lang="en-US" sz="1600" dirty="0">
                          <a:latin typeface="+mn-lt"/>
                        </a:rPr>
                        <a:t>1 : 1</a:t>
                      </a:r>
                      <a:endParaRPr sz="1600" dirty="0">
                        <a:latin typeface="+mn-lt"/>
                      </a:endParaRPr>
                    </a:p>
                  </a:txBody>
                  <a:tcPr marL="73152" marR="45720" marT="36576" marB="36576"/>
                </a:tc>
                <a:tc>
                  <a:txBody>
                    <a:bodyPr/>
                    <a:lstStyle/>
                    <a:p>
                      <a:pPr>
                        <a:defRPr sz="1250">
                          <a:solidFill>
                            <a:srgbClr val="232323"/>
                          </a:solidFill>
                          <a:latin typeface="Aptos"/>
                        </a:defRPr>
                      </a:pPr>
                      <a:r>
                        <a:rPr lang="en-US" sz="1600" dirty="0">
                          <a:latin typeface="+mn-lt"/>
                        </a:rPr>
                        <a:t>One order has one payment.</a:t>
                      </a:r>
                      <a:endParaRPr sz="1600" dirty="0">
                        <a:latin typeface="+mn-lt"/>
                      </a:endParaRPr>
                    </a:p>
                  </a:txBody>
                  <a:tcPr marL="73152" marR="45720" marT="36576" marB="36576"/>
                </a:tc>
                <a:extLst>
                  <a:ext uri="{0D108BD9-81ED-4DB2-BD59-A6C34878D82A}">
                    <a16:rowId xmlns:a16="http://schemas.microsoft.com/office/drawing/2014/main" val="820042757"/>
                  </a:ext>
                </a:extLst>
              </a:tr>
              <a:tr h="469458">
                <a:tc>
                  <a:txBody>
                    <a:bodyPr/>
                    <a:lstStyle/>
                    <a:p>
                      <a:pPr>
                        <a:defRPr sz="1250">
                          <a:solidFill>
                            <a:srgbClr val="232323"/>
                          </a:solidFill>
                          <a:latin typeface="Aptos"/>
                        </a:defRPr>
                      </a:pPr>
                      <a:r>
                        <a:rPr lang="en-US" sz="1600" dirty="0">
                          <a:latin typeface="+mn-lt"/>
                        </a:rPr>
                        <a:t>Orders </a:t>
                      </a:r>
                      <a:r>
                        <a:rPr lang="en-IN" sz="1600" kern="1200" dirty="0">
                          <a:solidFill>
                            <a:schemeClr val="tx1"/>
                          </a:solidFill>
                          <a:latin typeface="+mn-lt"/>
                          <a:ea typeface="+mn-ea"/>
                          <a:cs typeface="+mn-cs"/>
                        </a:rPr>
                        <a:t>→ Shipment</a:t>
                      </a:r>
                      <a:endParaRPr sz="1600" dirty="0">
                        <a:latin typeface="+mn-lt"/>
                      </a:endParaRPr>
                    </a:p>
                  </a:txBody>
                  <a:tcPr marL="73152" marR="45720" marT="36576" marB="36576"/>
                </a:tc>
                <a:tc>
                  <a:txBody>
                    <a:bodyPr/>
                    <a:lstStyle/>
                    <a:p>
                      <a:pPr>
                        <a:defRPr sz="1250">
                          <a:solidFill>
                            <a:srgbClr val="232323"/>
                          </a:solidFill>
                          <a:latin typeface="Aptos"/>
                        </a:defRPr>
                      </a:pPr>
                      <a:r>
                        <a:rPr lang="en-US" sz="1600" dirty="0">
                          <a:latin typeface="+mn-lt"/>
                        </a:rPr>
                        <a:t>1 : 1</a:t>
                      </a:r>
                      <a:endParaRPr sz="1600" dirty="0">
                        <a:latin typeface="+mn-lt"/>
                      </a:endParaRPr>
                    </a:p>
                  </a:txBody>
                  <a:tcPr marL="73152" marR="45720" marT="36576" marB="36576"/>
                </a:tc>
                <a:tc>
                  <a:txBody>
                    <a:bodyPr/>
                    <a:lstStyle/>
                    <a:p>
                      <a:pPr>
                        <a:defRPr sz="1250">
                          <a:solidFill>
                            <a:srgbClr val="232323"/>
                          </a:solidFill>
                          <a:latin typeface="Aptos"/>
                        </a:defRPr>
                      </a:pPr>
                      <a:r>
                        <a:rPr lang="en-US" sz="1600" dirty="0">
                          <a:latin typeface="+mn-lt"/>
                        </a:rPr>
                        <a:t>One order has one shipment.</a:t>
                      </a:r>
                      <a:endParaRPr sz="1600" dirty="0">
                        <a:latin typeface="+mn-lt"/>
                      </a:endParaRPr>
                    </a:p>
                  </a:txBody>
                  <a:tcPr marL="73152" marR="45720" marT="36576" marB="36576"/>
                </a:tc>
                <a:extLst>
                  <a:ext uri="{0D108BD9-81ED-4DB2-BD59-A6C34878D82A}">
                    <a16:rowId xmlns:a16="http://schemas.microsoft.com/office/drawing/2014/main" val="255029897"/>
                  </a:ext>
                </a:extLst>
              </a:tr>
              <a:tr h="469458">
                <a:tc>
                  <a:txBody>
                    <a:bodyPr/>
                    <a:lstStyle/>
                    <a:p>
                      <a:pPr>
                        <a:defRPr sz="1250">
                          <a:solidFill>
                            <a:srgbClr val="232323"/>
                          </a:solidFill>
                          <a:latin typeface="Aptos"/>
                        </a:defRPr>
                      </a:pPr>
                      <a:r>
                        <a:rPr lang="en-US" sz="1600" dirty="0">
                          <a:latin typeface="+mn-lt"/>
                        </a:rPr>
                        <a:t>Customer </a:t>
                      </a:r>
                      <a:r>
                        <a:rPr lang="en-IN" sz="1600" kern="1200" dirty="0">
                          <a:solidFill>
                            <a:schemeClr val="tx1"/>
                          </a:solidFill>
                          <a:latin typeface="+mn-lt"/>
                          <a:ea typeface="+mn-ea"/>
                          <a:cs typeface="+mn-cs"/>
                        </a:rPr>
                        <a:t>→ Review</a:t>
                      </a:r>
                      <a:endParaRPr sz="1600" dirty="0">
                        <a:latin typeface="+mn-lt"/>
                      </a:endParaRPr>
                    </a:p>
                  </a:txBody>
                  <a:tcPr marL="73152" marR="45720" marT="36576" marB="36576"/>
                </a:tc>
                <a:tc>
                  <a:txBody>
                    <a:bodyPr/>
                    <a:lstStyle/>
                    <a:p>
                      <a:pPr>
                        <a:defRPr sz="1250">
                          <a:solidFill>
                            <a:srgbClr val="232323"/>
                          </a:solidFill>
                          <a:latin typeface="Aptos"/>
                        </a:defRPr>
                      </a:pPr>
                      <a:r>
                        <a:rPr lang="en-US" sz="1600" dirty="0">
                          <a:latin typeface="+mn-lt"/>
                        </a:rPr>
                        <a:t>1 : M</a:t>
                      </a:r>
                      <a:endParaRPr sz="1600" dirty="0">
                        <a:latin typeface="+mn-lt"/>
                      </a:endParaRPr>
                    </a:p>
                  </a:txBody>
                  <a:tcPr marL="73152" marR="45720" marT="36576" marB="36576"/>
                </a:tc>
                <a:tc>
                  <a:txBody>
                    <a:bodyPr/>
                    <a:lstStyle/>
                    <a:p>
                      <a:pPr>
                        <a:defRPr sz="1250">
                          <a:solidFill>
                            <a:srgbClr val="232323"/>
                          </a:solidFill>
                          <a:latin typeface="Aptos"/>
                        </a:defRPr>
                      </a:pPr>
                      <a:r>
                        <a:rPr lang="en-US" sz="1600" dirty="0">
                          <a:latin typeface="+mn-lt"/>
                        </a:rPr>
                        <a:t>One customer can write many reviews.</a:t>
                      </a:r>
                      <a:endParaRPr sz="1600" dirty="0">
                        <a:latin typeface="+mn-lt"/>
                      </a:endParaRPr>
                    </a:p>
                  </a:txBody>
                  <a:tcPr marL="73152" marR="45720" marT="36576" marB="36576"/>
                </a:tc>
                <a:extLst>
                  <a:ext uri="{0D108BD9-81ED-4DB2-BD59-A6C34878D82A}">
                    <a16:rowId xmlns:a16="http://schemas.microsoft.com/office/drawing/2014/main" val="2899595730"/>
                  </a:ext>
                </a:extLst>
              </a:tr>
              <a:tr h="526894">
                <a:tc>
                  <a:txBody>
                    <a:bodyPr/>
                    <a:lstStyle/>
                    <a:p>
                      <a:pPr>
                        <a:defRPr sz="1250">
                          <a:solidFill>
                            <a:srgbClr val="232323"/>
                          </a:solidFill>
                          <a:latin typeface="Aptos"/>
                        </a:defRPr>
                      </a:pPr>
                      <a:r>
                        <a:rPr lang="en-US" sz="1600" dirty="0">
                          <a:latin typeface="+mn-lt"/>
                        </a:rPr>
                        <a:t>Product </a:t>
                      </a:r>
                      <a:r>
                        <a:rPr lang="en-IN" sz="1600" kern="1200" dirty="0">
                          <a:solidFill>
                            <a:schemeClr val="tx1"/>
                          </a:solidFill>
                          <a:latin typeface="+mn-lt"/>
                          <a:ea typeface="+mn-ea"/>
                          <a:cs typeface="+mn-cs"/>
                        </a:rPr>
                        <a:t>→ Review</a:t>
                      </a:r>
                      <a:endParaRPr sz="1600" dirty="0">
                        <a:latin typeface="+mn-lt"/>
                      </a:endParaRPr>
                    </a:p>
                  </a:txBody>
                  <a:tcPr marL="73152" marR="45720" marT="36576" marB="36576"/>
                </a:tc>
                <a:tc>
                  <a:txBody>
                    <a:bodyPr/>
                    <a:lstStyle/>
                    <a:p>
                      <a:pPr>
                        <a:defRPr sz="1250">
                          <a:solidFill>
                            <a:srgbClr val="232323"/>
                          </a:solidFill>
                          <a:latin typeface="Aptos"/>
                        </a:defRPr>
                      </a:pPr>
                      <a:r>
                        <a:rPr sz="1600" dirty="0">
                          <a:latin typeface="+mn-lt"/>
                        </a:rPr>
                        <a:t>1 : M</a:t>
                      </a:r>
                    </a:p>
                  </a:txBody>
                  <a:tcPr marL="73152" marR="45720" marT="36576" marB="36576"/>
                </a:tc>
                <a:tc>
                  <a:txBody>
                    <a:bodyPr/>
                    <a:lstStyle/>
                    <a:p>
                      <a:pPr>
                        <a:defRPr sz="1250">
                          <a:solidFill>
                            <a:srgbClr val="232323"/>
                          </a:solidFill>
                          <a:latin typeface="Aptos"/>
                        </a:defRPr>
                      </a:pPr>
                      <a:r>
                        <a:rPr sz="1600" dirty="0">
                          <a:latin typeface="+mn-lt"/>
                        </a:rPr>
                        <a:t>One </a:t>
                      </a:r>
                      <a:r>
                        <a:rPr lang="en-US" sz="1600" dirty="0">
                          <a:latin typeface="+mn-lt"/>
                        </a:rPr>
                        <a:t>product can have many reviews</a:t>
                      </a:r>
                      <a:r>
                        <a:rPr sz="1600" dirty="0">
                          <a:latin typeface="+mn-lt"/>
                        </a:rPr>
                        <a:t>.</a:t>
                      </a:r>
                    </a:p>
                  </a:txBody>
                  <a:tcPr marL="73152" marR="45720" marT="36576" marB="36576"/>
                </a:tc>
                <a:extLst>
                  <a:ext uri="{0D108BD9-81ED-4DB2-BD59-A6C34878D82A}">
                    <a16:rowId xmlns:a16="http://schemas.microsoft.com/office/drawing/2014/main" val="10005"/>
                  </a:ext>
                </a:extLst>
              </a:tr>
              <a:tr h="526894">
                <a:tc>
                  <a:txBody>
                    <a:bodyPr/>
                    <a:lstStyle/>
                    <a:p>
                      <a:pPr>
                        <a:defRPr sz="1250">
                          <a:solidFill>
                            <a:srgbClr val="232323"/>
                          </a:solidFill>
                          <a:latin typeface="Aptos"/>
                        </a:defRPr>
                      </a:pPr>
                      <a:r>
                        <a:rPr lang="en-US" sz="1600" dirty="0">
                          <a:latin typeface="+mn-lt"/>
                        </a:rPr>
                        <a:t>Customer </a:t>
                      </a:r>
                      <a:r>
                        <a:rPr lang="en-IN" sz="1600" kern="1200" dirty="0">
                          <a:solidFill>
                            <a:schemeClr val="tx1"/>
                          </a:solidFill>
                          <a:latin typeface="+mn-lt"/>
                          <a:ea typeface="+mn-ea"/>
                          <a:cs typeface="+mn-cs"/>
                        </a:rPr>
                        <a:t>→ Cart</a:t>
                      </a:r>
                      <a:endParaRPr sz="1600" dirty="0">
                        <a:latin typeface="+mn-lt"/>
                      </a:endParaRPr>
                    </a:p>
                  </a:txBody>
                  <a:tcPr marL="73152" marR="45720" marT="36576" marB="36576"/>
                </a:tc>
                <a:tc>
                  <a:txBody>
                    <a:bodyPr/>
                    <a:lstStyle/>
                    <a:p>
                      <a:pPr>
                        <a:defRPr sz="1250">
                          <a:solidFill>
                            <a:srgbClr val="232323"/>
                          </a:solidFill>
                          <a:latin typeface="Aptos"/>
                        </a:defRPr>
                      </a:pPr>
                      <a:r>
                        <a:rPr sz="1600" dirty="0">
                          <a:latin typeface="+mn-lt"/>
                        </a:rPr>
                        <a:t>1 : M</a:t>
                      </a:r>
                    </a:p>
                  </a:txBody>
                  <a:tcPr marL="73152" marR="45720" marT="36576" marB="36576"/>
                </a:tc>
                <a:tc>
                  <a:txBody>
                    <a:bodyPr/>
                    <a:lstStyle/>
                    <a:p>
                      <a:pPr>
                        <a:defRPr sz="1250">
                          <a:solidFill>
                            <a:srgbClr val="232323"/>
                          </a:solidFill>
                          <a:latin typeface="Aptos"/>
                        </a:defRPr>
                      </a:pPr>
                      <a:r>
                        <a:rPr sz="1600" dirty="0">
                          <a:latin typeface="+mn-lt"/>
                        </a:rPr>
                        <a:t>One </a:t>
                      </a:r>
                      <a:r>
                        <a:rPr lang="en-US" sz="1600" dirty="0">
                          <a:latin typeface="+mn-lt"/>
                        </a:rPr>
                        <a:t>customer can have many cart items</a:t>
                      </a:r>
                      <a:r>
                        <a:rPr sz="1600" dirty="0">
                          <a:latin typeface="+mn-lt"/>
                        </a:rPr>
                        <a:t>.</a:t>
                      </a:r>
                    </a:p>
                  </a:txBody>
                  <a:tcPr marL="73152" marR="45720" marT="36576" marB="36576"/>
                </a:tc>
                <a:extLst>
                  <a:ext uri="{0D108BD9-81ED-4DB2-BD59-A6C34878D82A}">
                    <a16:rowId xmlns:a16="http://schemas.microsoft.com/office/drawing/2014/main" val="10006"/>
                  </a:ext>
                </a:extLst>
              </a:tr>
              <a:tr h="526894">
                <a:tc>
                  <a:txBody>
                    <a:bodyPr/>
                    <a:lstStyle/>
                    <a:p>
                      <a:pPr>
                        <a:defRPr sz="1250">
                          <a:solidFill>
                            <a:srgbClr val="232323"/>
                          </a:solidFill>
                          <a:latin typeface="Aptos"/>
                        </a:defRPr>
                      </a:pPr>
                      <a:r>
                        <a:rPr lang="en-US" sz="1600" dirty="0">
                          <a:latin typeface="+mn-lt"/>
                        </a:rPr>
                        <a:t>Product </a:t>
                      </a:r>
                      <a:r>
                        <a:rPr lang="en-IN" sz="1600" kern="1200" dirty="0">
                          <a:solidFill>
                            <a:schemeClr val="tx1"/>
                          </a:solidFill>
                          <a:latin typeface="+mn-lt"/>
                          <a:ea typeface="+mn-ea"/>
                          <a:cs typeface="+mn-cs"/>
                        </a:rPr>
                        <a:t>→ Cart</a:t>
                      </a:r>
                      <a:endParaRPr sz="1600" dirty="0">
                        <a:latin typeface="+mn-lt"/>
                      </a:endParaRPr>
                    </a:p>
                  </a:txBody>
                  <a:tcPr marL="73152" marR="45720" marT="36576" marB="36576"/>
                </a:tc>
                <a:tc>
                  <a:txBody>
                    <a:bodyPr/>
                    <a:lstStyle/>
                    <a:p>
                      <a:pPr>
                        <a:defRPr sz="1250">
                          <a:solidFill>
                            <a:srgbClr val="232323"/>
                          </a:solidFill>
                          <a:latin typeface="Aptos"/>
                        </a:defRPr>
                      </a:pPr>
                      <a:r>
                        <a:rPr sz="1600" dirty="0">
                          <a:latin typeface="+mn-lt"/>
                        </a:rPr>
                        <a:t>1 : M</a:t>
                      </a:r>
                    </a:p>
                  </a:txBody>
                  <a:tcPr marL="73152" marR="45720" marT="36576" marB="36576"/>
                </a:tc>
                <a:tc>
                  <a:txBody>
                    <a:bodyPr/>
                    <a:lstStyle/>
                    <a:p>
                      <a:pPr>
                        <a:defRPr sz="1250">
                          <a:solidFill>
                            <a:srgbClr val="232323"/>
                          </a:solidFill>
                          <a:latin typeface="Aptos"/>
                        </a:defRPr>
                      </a:pPr>
                      <a:r>
                        <a:rPr sz="1600" dirty="0">
                          <a:latin typeface="+mn-lt"/>
                        </a:rPr>
                        <a:t>One </a:t>
                      </a:r>
                      <a:r>
                        <a:rPr lang="en-US" sz="1600" dirty="0">
                          <a:latin typeface="+mn-lt"/>
                        </a:rPr>
                        <a:t>product can be added to many carts</a:t>
                      </a:r>
                      <a:r>
                        <a:rPr sz="1600" dirty="0">
                          <a:latin typeface="+mn-lt"/>
                        </a:rPr>
                        <a:t>.</a:t>
                      </a:r>
                    </a:p>
                  </a:txBody>
                  <a:tcPr marL="73152" marR="45720" marT="36576" marB="36576"/>
                </a:tc>
                <a:extLst>
                  <a:ext uri="{0D108BD9-81ED-4DB2-BD59-A6C34878D82A}">
                    <a16:rowId xmlns:a16="http://schemas.microsoft.com/office/drawing/2014/main" val="10007"/>
                  </a:ext>
                </a:extLst>
              </a:tr>
            </a:tbl>
          </a:graphicData>
        </a:graphic>
      </p:graphicFrame>
      <p:sp>
        <p:nvSpPr>
          <p:cNvPr id="6" name="TextBox 5"/>
          <p:cNvSpPr txBox="1"/>
          <p:nvPr/>
        </p:nvSpPr>
        <p:spPr>
          <a:xfrm>
            <a:off x="10789920" y="6473952"/>
            <a:ext cx="731520" cy="228600"/>
          </a:xfrm>
          <a:prstGeom prst="rect">
            <a:avLst/>
          </a:prstGeom>
          <a:noFill/>
        </p:spPr>
        <p:txBody>
          <a:bodyPr wrap="none">
            <a:spAutoFit/>
          </a:bodyPr>
          <a:lstStyle/>
          <a:p>
            <a:pPr algn="r">
              <a:defRPr sz="1000">
                <a:solidFill>
                  <a:srgbClr val="5F6973"/>
                </a:solidFill>
                <a:latin typeface="Aptos"/>
              </a:defRPr>
            </a:pPr>
            <a:r>
              <a:t>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7011B5-B509-0DAC-BED9-C1CA82785C3A}"/>
              </a:ext>
            </a:extLst>
          </p:cNvPr>
          <p:cNvSpPr txBox="1"/>
          <p:nvPr/>
        </p:nvSpPr>
        <p:spPr>
          <a:xfrm>
            <a:off x="594360" y="320040"/>
            <a:ext cx="4945649" cy="523220"/>
          </a:xfrm>
          <a:prstGeom prst="rect">
            <a:avLst/>
          </a:prstGeom>
          <a:noFill/>
        </p:spPr>
        <p:txBody>
          <a:bodyPr wrap="none">
            <a:spAutoFit/>
          </a:bodyPr>
          <a:lstStyle/>
          <a:p>
            <a:pPr>
              <a:defRPr sz="2800" b="1">
                <a:solidFill>
                  <a:srgbClr val="182D4A"/>
                </a:solidFill>
                <a:latin typeface="Aptos Display"/>
              </a:defRPr>
            </a:pPr>
            <a:r>
              <a:rPr lang="en-IN" dirty="0"/>
              <a:t>7. Relational Database Schema</a:t>
            </a:r>
          </a:p>
        </p:txBody>
      </p:sp>
      <p:sp>
        <p:nvSpPr>
          <p:cNvPr id="3" name="Rectangle 2">
            <a:extLst>
              <a:ext uri="{FF2B5EF4-FFF2-40B4-BE49-F238E27FC236}">
                <a16:creationId xmlns:a16="http://schemas.microsoft.com/office/drawing/2014/main" id="{702A8129-E6B9-F1C7-1302-E5D81A08E7D5}"/>
              </a:ext>
            </a:extLst>
          </p:cNvPr>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a:extLst>
              <a:ext uri="{FF2B5EF4-FFF2-40B4-BE49-F238E27FC236}">
                <a16:creationId xmlns:a16="http://schemas.microsoft.com/office/drawing/2014/main" id="{CF1A6260-188E-22B5-35F4-AA29605BB2C5}"/>
              </a:ext>
            </a:extLst>
          </p:cNvPr>
          <p:cNvGraphicFramePr>
            <a:graphicFrameLocks noGrp="1"/>
          </p:cNvGraphicFramePr>
          <p:nvPr>
            <p:extLst>
              <p:ext uri="{D42A27DB-BD31-4B8C-83A1-F6EECF244321}">
                <p14:modId xmlns:p14="http://schemas.microsoft.com/office/powerpoint/2010/main" val="1959169291"/>
              </p:ext>
            </p:extLst>
          </p:nvPr>
        </p:nvGraphicFramePr>
        <p:xfrm>
          <a:off x="745435" y="1475040"/>
          <a:ext cx="10754139" cy="4130631"/>
        </p:xfrm>
        <a:graphic>
          <a:graphicData uri="http://schemas.openxmlformats.org/drawingml/2006/table">
            <a:tbl>
              <a:tblPr firstRow="1" bandRow="1">
                <a:tableStyleId>{5940675A-B579-460E-94D1-54222C63F5DA}</a:tableStyleId>
              </a:tblPr>
              <a:tblGrid>
                <a:gridCol w="1779104">
                  <a:extLst>
                    <a:ext uri="{9D8B030D-6E8A-4147-A177-3AD203B41FA5}">
                      <a16:colId xmlns:a16="http://schemas.microsoft.com/office/drawing/2014/main" val="632900832"/>
                    </a:ext>
                  </a:extLst>
                </a:gridCol>
                <a:gridCol w="4979505">
                  <a:extLst>
                    <a:ext uri="{9D8B030D-6E8A-4147-A177-3AD203B41FA5}">
                      <a16:colId xmlns:a16="http://schemas.microsoft.com/office/drawing/2014/main" val="666159854"/>
                    </a:ext>
                  </a:extLst>
                </a:gridCol>
                <a:gridCol w="3995530">
                  <a:extLst>
                    <a:ext uri="{9D8B030D-6E8A-4147-A177-3AD203B41FA5}">
                      <a16:colId xmlns:a16="http://schemas.microsoft.com/office/drawing/2014/main" val="42106283"/>
                    </a:ext>
                  </a:extLst>
                </a:gridCol>
              </a:tblGrid>
              <a:tr h="99136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CUSTOMER</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Customer(</a:t>
                      </a:r>
                      <a:r>
                        <a:rPr lang="en-US" dirty="0" err="1"/>
                        <a:t>Customer_ID</a:t>
                      </a:r>
                      <a:r>
                        <a:rPr lang="en-US" sz="1800" dirty="0">
                          <a:latin typeface="+mn-lt"/>
                        </a:rPr>
                        <a:t>,  </a:t>
                      </a:r>
                      <a:r>
                        <a:rPr lang="en-US" sz="1800" dirty="0" err="1">
                          <a:latin typeface="+mn-lt"/>
                        </a:rPr>
                        <a:t>Customer_Name</a:t>
                      </a:r>
                      <a:r>
                        <a:rPr lang="en-US" sz="1800" dirty="0">
                          <a:latin typeface="+mn-lt"/>
                        </a:rPr>
                        <a:t>, Email, Phone, Password)</a:t>
                      </a:r>
                    </a:p>
                    <a:p>
                      <a:endParaRPr lang="en-IN" dirty="0"/>
                    </a:p>
                  </a:txBody>
                  <a:tcPr/>
                </a:tc>
                <a:tc>
                  <a:txBody>
                    <a:bodyPr/>
                    <a:lstStyle/>
                    <a:p>
                      <a:r>
                        <a:rPr lang="en-US" dirty="0" err="1"/>
                        <a:t>PK:Customer_ID</a:t>
                      </a:r>
                      <a:endParaRPr lang="en-IN" dirty="0"/>
                    </a:p>
                  </a:txBody>
                  <a:tcPr/>
                </a:tc>
                <a:extLst>
                  <a:ext uri="{0D108BD9-81ED-4DB2-BD59-A6C34878D82A}">
                    <a16:rowId xmlns:a16="http://schemas.microsoft.com/office/drawing/2014/main" val="1546462287"/>
                  </a:ext>
                </a:extLst>
              </a:tr>
              <a:tr h="784816">
                <a:tc>
                  <a:txBody>
                    <a:bodyPr/>
                    <a:lstStyle/>
                    <a:p>
                      <a:r>
                        <a:rPr lang="en-US" dirty="0"/>
                        <a:t>CATEGORY</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err="1">
                          <a:latin typeface="+mn-lt"/>
                        </a:rPr>
                        <a:t>Category_ID</a:t>
                      </a:r>
                      <a:r>
                        <a:rPr lang="en-US" sz="1800" dirty="0">
                          <a:latin typeface="+mn-lt"/>
                        </a:rPr>
                        <a:t>, </a:t>
                      </a:r>
                      <a:r>
                        <a:rPr lang="en-US" sz="1800" dirty="0" err="1">
                          <a:latin typeface="+mn-lt"/>
                        </a:rPr>
                        <a:t>Category_Name</a:t>
                      </a:r>
                      <a:r>
                        <a:rPr lang="en-US" sz="1800" dirty="0">
                          <a:latin typeface="+mn-lt"/>
                        </a:rPr>
                        <a:t>, Description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IN" dirty="0"/>
                    </a:p>
                  </a:txBody>
                  <a:tcPr/>
                </a:tc>
                <a:tc>
                  <a:txBody>
                    <a:bodyPr/>
                    <a:lstStyle/>
                    <a:p>
                      <a:r>
                        <a:rPr lang="en-US" dirty="0" err="1"/>
                        <a:t>PK:Category_ID</a:t>
                      </a:r>
                      <a:endParaRPr lang="en-IN" dirty="0"/>
                    </a:p>
                  </a:txBody>
                  <a:tcPr/>
                </a:tc>
                <a:extLst>
                  <a:ext uri="{0D108BD9-81ED-4DB2-BD59-A6C34878D82A}">
                    <a16:rowId xmlns:a16="http://schemas.microsoft.com/office/drawing/2014/main" val="1649801455"/>
                  </a:ext>
                </a:extLst>
              </a:tr>
              <a:tr h="78481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PRODUCT</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latin typeface="+mn-lt"/>
                        </a:rPr>
                        <a:t>Product_ID, </a:t>
                      </a:r>
                      <a:r>
                        <a:rPr lang="en-US" sz="1800" dirty="0" err="1">
                          <a:latin typeface="+mn-lt"/>
                        </a:rPr>
                        <a:t>Product_Name</a:t>
                      </a:r>
                      <a:r>
                        <a:rPr lang="en-US" sz="1800" dirty="0">
                          <a:latin typeface="+mn-lt"/>
                        </a:rPr>
                        <a:t>, Description, Price, </a:t>
                      </a:r>
                      <a:r>
                        <a:rPr lang="en-US" sz="1800" dirty="0" err="1">
                          <a:latin typeface="+mn-lt"/>
                        </a:rPr>
                        <a:t>Stock_Quantity</a:t>
                      </a:r>
                      <a:r>
                        <a:rPr lang="en-US" sz="1800" dirty="0">
                          <a:latin typeface="+mn-lt"/>
                        </a:rPr>
                        <a:t>, Brand, </a:t>
                      </a:r>
                      <a:r>
                        <a:rPr lang="en-US" sz="1800" dirty="0" err="1">
                          <a:latin typeface="+mn-lt"/>
                        </a:rPr>
                        <a:t>Category,_ID</a:t>
                      </a:r>
                      <a:endParaRPr lang="en-US" sz="1800" dirty="0">
                        <a:latin typeface="+mn-lt"/>
                      </a:endParaRPr>
                    </a:p>
                  </a:txBody>
                  <a:tcPr/>
                </a:tc>
                <a:tc>
                  <a:txBody>
                    <a:bodyPr/>
                    <a:lstStyle/>
                    <a:p>
                      <a:r>
                        <a:rPr lang="en-US" dirty="0"/>
                        <a:t>PK:Product_ID | </a:t>
                      </a:r>
                      <a:r>
                        <a:rPr lang="en-US" dirty="0" err="1"/>
                        <a:t>FK:Category_ID</a:t>
                      </a:r>
                      <a:endParaRPr lang="en-IN" dirty="0"/>
                    </a:p>
                  </a:txBody>
                  <a:tcPr/>
                </a:tc>
                <a:extLst>
                  <a:ext uri="{0D108BD9-81ED-4DB2-BD59-A6C34878D82A}">
                    <a16:rowId xmlns:a16="http://schemas.microsoft.com/office/drawing/2014/main" val="558091841"/>
                  </a:ext>
                </a:extLst>
              </a:tr>
              <a:tr h="78481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ADDRESS</a:t>
                      </a:r>
                      <a:endParaRPr lang="en-IN" dirty="0"/>
                    </a:p>
                  </a:txBody>
                  <a:tcPr/>
                </a:tc>
                <a:tc>
                  <a:txBody>
                    <a:bodyPr/>
                    <a:lstStyle/>
                    <a:p>
                      <a:pPr>
                        <a:defRPr sz="1250">
                          <a:solidFill>
                            <a:srgbClr val="232323"/>
                          </a:solidFill>
                          <a:latin typeface="Aptos"/>
                        </a:defRPr>
                      </a:pPr>
                      <a:r>
                        <a:rPr lang="en-US" sz="1800" dirty="0" err="1">
                          <a:latin typeface="+mn-lt"/>
                        </a:rPr>
                        <a:t>Address_ID</a:t>
                      </a:r>
                      <a:r>
                        <a:rPr lang="en-US" sz="1800" dirty="0">
                          <a:latin typeface="+mn-lt"/>
                        </a:rPr>
                        <a:t>, </a:t>
                      </a:r>
                      <a:r>
                        <a:rPr lang="en-US" sz="1800" dirty="0" err="1">
                          <a:latin typeface="+mn-lt"/>
                        </a:rPr>
                        <a:t>Customer_ID</a:t>
                      </a:r>
                      <a:r>
                        <a:rPr lang="en-US" sz="1800" dirty="0">
                          <a:latin typeface="+mn-lt"/>
                        </a:rPr>
                        <a:t>, </a:t>
                      </a:r>
                      <a:r>
                        <a:rPr lang="en-US" sz="1800" dirty="0" err="1">
                          <a:latin typeface="+mn-lt"/>
                        </a:rPr>
                        <a:t>House_NO</a:t>
                      </a:r>
                      <a:r>
                        <a:rPr lang="en-US" sz="1800" dirty="0">
                          <a:latin typeface="+mn-lt"/>
                        </a:rPr>
                        <a:t>, Street, City, State, </a:t>
                      </a:r>
                      <a:r>
                        <a:rPr lang="en-US" sz="1800" dirty="0" err="1">
                          <a:latin typeface="+mn-lt"/>
                        </a:rPr>
                        <a:t>Pincode</a:t>
                      </a:r>
                      <a:endParaRPr lang="en-US" sz="1800" dirty="0">
                        <a:latin typeface="+mn-lt"/>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err="1"/>
                        <a:t>PK:Address_ID</a:t>
                      </a:r>
                      <a:r>
                        <a:rPr lang="en-US" dirty="0"/>
                        <a:t> | </a:t>
                      </a:r>
                      <a:r>
                        <a:rPr lang="en-US" dirty="0" err="1"/>
                        <a:t>FK:Customer_ID</a:t>
                      </a:r>
                      <a:endParaRPr lang="en-IN" dirty="0"/>
                    </a:p>
                  </a:txBody>
                  <a:tcPr/>
                </a:tc>
                <a:extLst>
                  <a:ext uri="{0D108BD9-81ED-4DB2-BD59-A6C34878D82A}">
                    <a16:rowId xmlns:a16="http://schemas.microsoft.com/office/drawing/2014/main" val="2245838732"/>
                  </a:ext>
                </a:extLst>
              </a:tr>
              <a:tr h="78481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ORDERS</a:t>
                      </a:r>
                      <a:endParaRPr lang="en-IN" dirty="0"/>
                    </a:p>
                  </a:txBody>
                  <a:tcPr/>
                </a:tc>
                <a:tc>
                  <a:txBody>
                    <a:bodyPr/>
                    <a:lstStyle/>
                    <a:p>
                      <a:pPr>
                        <a:defRPr sz="1250">
                          <a:solidFill>
                            <a:srgbClr val="232323"/>
                          </a:solidFill>
                          <a:latin typeface="Aptos"/>
                        </a:defRPr>
                      </a:pPr>
                      <a:r>
                        <a:rPr lang="en-US" sz="1800" dirty="0" err="1">
                          <a:latin typeface="+mn-lt"/>
                        </a:rPr>
                        <a:t>Order_ID</a:t>
                      </a:r>
                      <a:r>
                        <a:rPr lang="en-US" sz="1800" dirty="0">
                          <a:latin typeface="+mn-lt"/>
                        </a:rPr>
                        <a:t>, </a:t>
                      </a:r>
                      <a:r>
                        <a:rPr lang="en-US" sz="1800" dirty="0" err="1">
                          <a:latin typeface="+mn-lt"/>
                        </a:rPr>
                        <a:t>Customer_ID</a:t>
                      </a:r>
                      <a:r>
                        <a:rPr lang="en-US" sz="1800" dirty="0">
                          <a:latin typeface="+mn-lt"/>
                        </a:rPr>
                        <a:t>, </a:t>
                      </a:r>
                      <a:r>
                        <a:rPr lang="en-US" sz="1800" dirty="0" err="1">
                          <a:latin typeface="+mn-lt"/>
                        </a:rPr>
                        <a:t>Address_ID</a:t>
                      </a:r>
                      <a:r>
                        <a:rPr lang="en-US" sz="1800" dirty="0">
                          <a:latin typeface="+mn-lt"/>
                        </a:rPr>
                        <a:t>, </a:t>
                      </a:r>
                      <a:r>
                        <a:rPr lang="en-US" sz="1800" dirty="0" err="1">
                          <a:latin typeface="+mn-lt"/>
                        </a:rPr>
                        <a:t>Order_Date</a:t>
                      </a:r>
                      <a:r>
                        <a:rPr lang="en-US" sz="1800" dirty="0">
                          <a:latin typeface="+mn-lt"/>
                        </a:rPr>
                        <a:t>, </a:t>
                      </a:r>
                      <a:r>
                        <a:rPr lang="en-US" sz="1800" dirty="0" err="1">
                          <a:latin typeface="+mn-lt"/>
                        </a:rPr>
                        <a:t>Toatl_Amount</a:t>
                      </a:r>
                      <a:r>
                        <a:rPr lang="en-US" sz="1800" dirty="0">
                          <a:latin typeface="+mn-lt"/>
                        </a:rPr>
                        <a:t>, </a:t>
                      </a:r>
                      <a:r>
                        <a:rPr lang="en-US" sz="1800" dirty="0" err="1">
                          <a:latin typeface="+mn-lt"/>
                        </a:rPr>
                        <a:t>Order_Status</a:t>
                      </a:r>
                      <a:endParaRPr lang="en-US" sz="1800" dirty="0">
                        <a:latin typeface="+mn-lt"/>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err="1"/>
                        <a:t>PK:Order_ID</a:t>
                      </a:r>
                      <a:r>
                        <a:rPr lang="en-US" dirty="0"/>
                        <a:t> | </a:t>
                      </a:r>
                      <a:r>
                        <a:rPr lang="en-US" dirty="0" err="1"/>
                        <a:t>FK:Customer_ID</a:t>
                      </a:r>
                      <a:r>
                        <a:rPr lang="en-US" dirty="0"/>
                        <a:t> , </a:t>
                      </a:r>
                      <a:r>
                        <a:rPr lang="en-US" dirty="0" err="1"/>
                        <a:t>Address_ID</a:t>
                      </a:r>
                      <a:endParaRPr lang="en-IN" dirty="0"/>
                    </a:p>
                  </a:txBody>
                  <a:tcPr/>
                </a:tc>
                <a:extLst>
                  <a:ext uri="{0D108BD9-81ED-4DB2-BD59-A6C34878D82A}">
                    <a16:rowId xmlns:a16="http://schemas.microsoft.com/office/drawing/2014/main" val="2872156847"/>
                  </a:ext>
                </a:extLst>
              </a:tr>
            </a:tbl>
          </a:graphicData>
        </a:graphic>
      </p:graphicFrame>
    </p:spTree>
    <p:extLst>
      <p:ext uri="{BB962C8B-B14F-4D97-AF65-F5344CB8AC3E}">
        <p14:creationId xmlns:p14="http://schemas.microsoft.com/office/powerpoint/2010/main" val="1832969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3326E-8ECC-E42A-9D38-7D97F2B9DD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7FEE61-6610-0A73-B4EA-AF66FD0450FC}"/>
              </a:ext>
            </a:extLst>
          </p:cNvPr>
          <p:cNvSpPr txBox="1"/>
          <p:nvPr/>
        </p:nvSpPr>
        <p:spPr>
          <a:xfrm>
            <a:off x="594360" y="320040"/>
            <a:ext cx="4945649" cy="523220"/>
          </a:xfrm>
          <a:prstGeom prst="rect">
            <a:avLst/>
          </a:prstGeom>
          <a:noFill/>
        </p:spPr>
        <p:txBody>
          <a:bodyPr wrap="none">
            <a:spAutoFit/>
          </a:bodyPr>
          <a:lstStyle/>
          <a:p>
            <a:pPr>
              <a:defRPr sz="2800" b="1">
                <a:solidFill>
                  <a:srgbClr val="182D4A"/>
                </a:solidFill>
                <a:latin typeface="Aptos Display"/>
              </a:defRPr>
            </a:pPr>
            <a:r>
              <a:rPr lang="en-IN" dirty="0"/>
              <a:t>7. Relational Database Schema</a:t>
            </a:r>
          </a:p>
        </p:txBody>
      </p:sp>
      <p:sp>
        <p:nvSpPr>
          <p:cNvPr id="3" name="Rectangle 2">
            <a:extLst>
              <a:ext uri="{FF2B5EF4-FFF2-40B4-BE49-F238E27FC236}">
                <a16:creationId xmlns:a16="http://schemas.microsoft.com/office/drawing/2014/main" id="{FD98A547-E0A0-A783-6329-A9B1D8AD67CC}"/>
              </a:ext>
            </a:extLst>
          </p:cNvPr>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a:extLst>
              <a:ext uri="{FF2B5EF4-FFF2-40B4-BE49-F238E27FC236}">
                <a16:creationId xmlns:a16="http://schemas.microsoft.com/office/drawing/2014/main" id="{93D0A1F9-69DD-74FA-3960-193624FE1B21}"/>
              </a:ext>
            </a:extLst>
          </p:cNvPr>
          <p:cNvGraphicFramePr>
            <a:graphicFrameLocks noGrp="1"/>
          </p:cNvGraphicFramePr>
          <p:nvPr>
            <p:extLst>
              <p:ext uri="{D42A27DB-BD31-4B8C-83A1-F6EECF244321}">
                <p14:modId xmlns:p14="http://schemas.microsoft.com/office/powerpoint/2010/main" val="1622838688"/>
              </p:ext>
            </p:extLst>
          </p:nvPr>
        </p:nvGraphicFramePr>
        <p:xfrm>
          <a:off x="745435" y="1475040"/>
          <a:ext cx="10754139" cy="3604983"/>
        </p:xfrm>
        <a:graphic>
          <a:graphicData uri="http://schemas.openxmlformats.org/drawingml/2006/table">
            <a:tbl>
              <a:tblPr firstRow="1" bandRow="1">
                <a:tableStyleId>{5940675A-B579-460E-94D1-54222C63F5DA}</a:tableStyleId>
              </a:tblPr>
              <a:tblGrid>
                <a:gridCol w="1779104">
                  <a:extLst>
                    <a:ext uri="{9D8B030D-6E8A-4147-A177-3AD203B41FA5}">
                      <a16:colId xmlns:a16="http://schemas.microsoft.com/office/drawing/2014/main" val="632900832"/>
                    </a:ext>
                  </a:extLst>
                </a:gridCol>
                <a:gridCol w="4979505">
                  <a:extLst>
                    <a:ext uri="{9D8B030D-6E8A-4147-A177-3AD203B41FA5}">
                      <a16:colId xmlns:a16="http://schemas.microsoft.com/office/drawing/2014/main" val="666159854"/>
                    </a:ext>
                  </a:extLst>
                </a:gridCol>
                <a:gridCol w="3995530">
                  <a:extLst>
                    <a:ext uri="{9D8B030D-6E8A-4147-A177-3AD203B41FA5}">
                      <a16:colId xmlns:a16="http://schemas.microsoft.com/office/drawing/2014/main" val="42106283"/>
                    </a:ext>
                  </a:extLst>
                </a:gridCol>
              </a:tblGrid>
              <a:tr h="99136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CART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err="1">
                          <a:latin typeface="+mn-lt"/>
                        </a:rPr>
                        <a:t>Cart_ID</a:t>
                      </a:r>
                      <a:r>
                        <a:rPr lang="en-US" sz="1800" dirty="0">
                          <a:latin typeface="+mn-lt"/>
                        </a:rPr>
                        <a:t>, </a:t>
                      </a:r>
                      <a:r>
                        <a:rPr lang="en-US" sz="1800" dirty="0" err="1">
                          <a:latin typeface="+mn-lt"/>
                        </a:rPr>
                        <a:t>Customer_ID</a:t>
                      </a:r>
                      <a:r>
                        <a:rPr lang="en-US" sz="1800" dirty="0">
                          <a:latin typeface="+mn-lt"/>
                        </a:rPr>
                        <a:t>, Product_ID, Quantity, </a:t>
                      </a:r>
                      <a:r>
                        <a:rPr lang="en-US" sz="1800" dirty="0" err="1">
                          <a:latin typeface="+mn-lt"/>
                        </a:rPr>
                        <a:t>Added_Date</a:t>
                      </a:r>
                      <a:endParaRPr lang="en-US" sz="1800" dirty="0">
                        <a:latin typeface="+mn-lt"/>
                      </a:endParaRPr>
                    </a:p>
                  </a:txBody>
                  <a:tcPr/>
                </a:tc>
                <a:tc>
                  <a:txBody>
                    <a:bodyPr/>
                    <a:lstStyle/>
                    <a:p>
                      <a:r>
                        <a:rPr lang="en-US" dirty="0" err="1"/>
                        <a:t>PK:Cart_ID</a:t>
                      </a:r>
                      <a:r>
                        <a:rPr lang="en-US" dirty="0"/>
                        <a:t> | </a:t>
                      </a:r>
                      <a:r>
                        <a:rPr lang="en-US" dirty="0" err="1"/>
                        <a:t>FK:Customer_ID</a:t>
                      </a:r>
                      <a:r>
                        <a:rPr lang="en-US" dirty="0"/>
                        <a:t> , Product_ID</a:t>
                      </a:r>
                      <a:endParaRPr lang="en-IN" dirty="0"/>
                    </a:p>
                  </a:txBody>
                  <a:tcPr/>
                </a:tc>
                <a:extLst>
                  <a:ext uri="{0D108BD9-81ED-4DB2-BD59-A6C34878D82A}">
                    <a16:rowId xmlns:a16="http://schemas.microsoft.com/office/drawing/2014/main" val="1546462287"/>
                  </a:ext>
                </a:extLst>
              </a:tr>
              <a:tr h="784816">
                <a:tc>
                  <a:txBody>
                    <a:bodyPr/>
                    <a:lstStyle/>
                    <a:p>
                      <a:endParaRPr lang="en-US" dirty="0"/>
                    </a:p>
                    <a:p>
                      <a:r>
                        <a:rPr lang="en-US" dirty="0"/>
                        <a:t>PAYMENT</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err="1">
                          <a:latin typeface="+mn-lt"/>
                        </a:rPr>
                        <a:t>Payment_ID</a:t>
                      </a:r>
                      <a:r>
                        <a:rPr lang="en-US" sz="1800" dirty="0">
                          <a:latin typeface="+mn-lt"/>
                        </a:rPr>
                        <a:t>, </a:t>
                      </a:r>
                      <a:r>
                        <a:rPr lang="en-US" sz="1800" dirty="0" err="1">
                          <a:latin typeface="+mn-lt"/>
                        </a:rPr>
                        <a:t>Order_ID</a:t>
                      </a:r>
                      <a:r>
                        <a:rPr lang="en-US" sz="1800" dirty="0">
                          <a:latin typeface="+mn-lt"/>
                        </a:rPr>
                        <a:t>, </a:t>
                      </a:r>
                      <a:r>
                        <a:rPr lang="en-US" sz="1800" dirty="0" err="1">
                          <a:latin typeface="+mn-lt"/>
                        </a:rPr>
                        <a:t>Payment_Method</a:t>
                      </a:r>
                      <a:r>
                        <a:rPr lang="en-US" sz="1800" dirty="0">
                          <a:latin typeface="+mn-lt"/>
                        </a:rPr>
                        <a:t>, </a:t>
                      </a:r>
                      <a:r>
                        <a:rPr lang="en-US" sz="1800" dirty="0" err="1">
                          <a:latin typeface="+mn-lt"/>
                        </a:rPr>
                        <a:t>Payment_Date</a:t>
                      </a:r>
                      <a:r>
                        <a:rPr lang="en-US" sz="1800" dirty="0">
                          <a:latin typeface="+mn-lt"/>
                        </a:rPr>
                        <a:t>, Amount, </a:t>
                      </a:r>
                      <a:r>
                        <a:rPr lang="en-US" sz="1800" dirty="0" err="1">
                          <a:latin typeface="+mn-lt"/>
                        </a:rPr>
                        <a:t>Payment_ID</a:t>
                      </a:r>
                      <a:r>
                        <a:rPr lang="en-US" sz="1800" dirty="0">
                          <a:latin typeface="+mn-lt"/>
                        </a:rPr>
                        <a:t>, </a:t>
                      </a:r>
                      <a:r>
                        <a:rPr lang="en-US" sz="1800" dirty="0" err="1">
                          <a:latin typeface="+mn-lt"/>
                        </a:rPr>
                        <a:t>Trasaction_ID</a:t>
                      </a:r>
                      <a:endParaRPr lang="en-US" sz="1800" dirty="0">
                        <a:latin typeface="+mn-lt"/>
                      </a:endParaRPr>
                    </a:p>
                  </a:txBody>
                  <a:tcPr/>
                </a:tc>
                <a:tc>
                  <a:txBody>
                    <a:bodyPr/>
                    <a:lstStyle/>
                    <a:p>
                      <a:r>
                        <a:rPr lang="en-US" dirty="0"/>
                        <a:t>PK:Payment_ID | </a:t>
                      </a:r>
                      <a:r>
                        <a:rPr lang="en-US" dirty="0" err="1"/>
                        <a:t>FK:Order_ID</a:t>
                      </a:r>
                      <a:r>
                        <a:rPr lang="en-US" dirty="0"/>
                        <a:t>, </a:t>
                      </a:r>
                      <a:endParaRPr lang="en-IN" dirty="0"/>
                    </a:p>
                  </a:txBody>
                  <a:tcPr/>
                </a:tc>
                <a:extLst>
                  <a:ext uri="{0D108BD9-81ED-4DB2-BD59-A6C34878D82A}">
                    <a16:rowId xmlns:a16="http://schemas.microsoft.com/office/drawing/2014/main" val="1649801455"/>
                  </a:ext>
                </a:extLst>
              </a:tr>
              <a:tr h="78481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SHIPMENT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err="1">
                          <a:latin typeface="+mn-lt"/>
                        </a:rPr>
                        <a:t>Shipment_ID</a:t>
                      </a:r>
                      <a:r>
                        <a:rPr lang="en-US" sz="1800" dirty="0">
                          <a:latin typeface="+mn-lt"/>
                        </a:rPr>
                        <a:t>, </a:t>
                      </a:r>
                      <a:r>
                        <a:rPr lang="en-US" sz="1800" dirty="0" err="1">
                          <a:latin typeface="+mn-lt"/>
                        </a:rPr>
                        <a:t>Order_ID</a:t>
                      </a:r>
                      <a:r>
                        <a:rPr lang="en-US" sz="1800" dirty="0">
                          <a:latin typeface="+mn-lt"/>
                        </a:rPr>
                        <a:t>, </a:t>
                      </a:r>
                      <a:r>
                        <a:rPr lang="en-US" sz="1800" dirty="0" err="1">
                          <a:latin typeface="+mn-lt"/>
                        </a:rPr>
                        <a:t>Courier_Name</a:t>
                      </a:r>
                      <a:r>
                        <a:rPr lang="en-US" sz="1800" dirty="0">
                          <a:latin typeface="+mn-lt"/>
                        </a:rPr>
                        <a:t>, </a:t>
                      </a:r>
                      <a:r>
                        <a:rPr lang="en-US" sz="1800" dirty="0" err="1">
                          <a:latin typeface="+mn-lt"/>
                        </a:rPr>
                        <a:t>Tracking_Number</a:t>
                      </a:r>
                      <a:r>
                        <a:rPr lang="en-US" sz="1800" dirty="0">
                          <a:latin typeface="+mn-lt"/>
                        </a:rPr>
                        <a:t>, </a:t>
                      </a:r>
                      <a:r>
                        <a:rPr lang="en-US" sz="1800" dirty="0" err="1">
                          <a:latin typeface="+mn-lt"/>
                        </a:rPr>
                        <a:t>Shipment_Date</a:t>
                      </a:r>
                      <a:r>
                        <a:rPr lang="en-US" sz="1800" dirty="0">
                          <a:latin typeface="+mn-lt"/>
                        </a:rPr>
                        <a:t>, </a:t>
                      </a:r>
                      <a:r>
                        <a:rPr lang="en-US" sz="1800" dirty="0" err="1">
                          <a:latin typeface="+mn-lt"/>
                        </a:rPr>
                        <a:t>Delivery_Date</a:t>
                      </a:r>
                      <a:r>
                        <a:rPr lang="en-US" sz="1800" dirty="0">
                          <a:latin typeface="+mn-lt"/>
                        </a:rPr>
                        <a:t>, </a:t>
                      </a:r>
                      <a:r>
                        <a:rPr lang="en-US" sz="1800" dirty="0" err="1">
                          <a:latin typeface="+mn-lt"/>
                        </a:rPr>
                        <a:t>Shipment_Status</a:t>
                      </a:r>
                      <a:endParaRPr lang="en-US" sz="1800" dirty="0">
                        <a:latin typeface="+mn-lt"/>
                      </a:endParaRPr>
                    </a:p>
                  </a:txBody>
                  <a:tcPr/>
                </a:tc>
                <a:tc>
                  <a:txBody>
                    <a:bodyPr/>
                    <a:lstStyle/>
                    <a:p>
                      <a:r>
                        <a:rPr lang="en-US" dirty="0" err="1"/>
                        <a:t>PK:Shipment_ID</a:t>
                      </a:r>
                      <a:r>
                        <a:rPr lang="en-US" dirty="0"/>
                        <a:t> | </a:t>
                      </a:r>
                      <a:r>
                        <a:rPr lang="en-US" dirty="0" err="1"/>
                        <a:t>FK:Order_ID</a:t>
                      </a:r>
                      <a:endParaRPr lang="en-IN" dirty="0"/>
                    </a:p>
                  </a:txBody>
                  <a:tcPr/>
                </a:tc>
                <a:extLst>
                  <a:ext uri="{0D108BD9-81ED-4DB2-BD59-A6C34878D82A}">
                    <a16:rowId xmlns:a16="http://schemas.microsoft.com/office/drawing/2014/main" val="558091841"/>
                  </a:ext>
                </a:extLst>
              </a:tr>
              <a:tr h="78481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REVIEW</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err="1">
                          <a:latin typeface="+mn-lt"/>
                        </a:rPr>
                        <a:t>Review_ID</a:t>
                      </a:r>
                      <a:r>
                        <a:rPr lang="en-US" sz="1800" dirty="0">
                          <a:latin typeface="+mn-lt"/>
                        </a:rPr>
                        <a:t>, </a:t>
                      </a:r>
                      <a:r>
                        <a:rPr lang="en-US" sz="1800" dirty="0" err="1">
                          <a:latin typeface="+mn-lt"/>
                        </a:rPr>
                        <a:t>Customer_ID</a:t>
                      </a:r>
                      <a:r>
                        <a:rPr lang="en-US" sz="1800" dirty="0">
                          <a:latin typeface="+mn-lt"/>
                        </a:rPr>
                        <a:t>, Product_ID, Rating, </a:t>
                      </a:r>
                      <a:r>
                        <a:rPr lang="en-US" sz="1800" dirty="0" err="1">
                          <a:latin typeface="+mn-lt"/>
                        </a:rPr>
                        <a:t>Review_Text</a:t>
                      </a:r>
                      <a:r>
                        <a:rPr lang="en-US" sz="1800" dirty="0">
                          <a:latin typeface="+mn-lt"/>
                        </a:rPr>
                        <a:t>, </a:t>
                      </a:r>
                      <a:r>
                        <a:rPr lang="en-US" sz="1800" dirty="0" err="1">
                          <a:latin typeface="+mn-lt"/>
                        </a:rPr>
                        <a:t>Review_Date</a:t>
                      </a:r>
                      <a:endParaRPr lang="en-US" sz="1800" dirty="0">
                        <a:latin typeface="+mn-lt"/>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err="1"/>
                        <a:t>PK:Review_ID</a:t>
                      </a:r>
                      <a:r>
                        <a:rPr lang="en-US" dirty="0"/>
                        <a:t> | </a:t>
                      </a:r>
                      <a:r>
                        <a:rPr lang="en-US" dirty="0" err="1"/>
                        <a:t>FK:Customer_ID</a:t>
                      </a:r>
                      <a:r>
                        <a:rPr lang="en-US" dirty="0"/>
                        <a:t>, Product_ID</a:t>
                      </a:r>
                      <a:endParaRPr lang="en-IN" dirty="0"/>
                    </a:p>
                  </a:txBody>
                  <a:tcPr/>
                </a:tc>
                <a:extLst>
                  <a:ext uri="{0D108BD9-81ED-4DB2-BD59-A6C34878D82A}">
                    <a16:rowId xmlns:a16="http://schemas.microsoft.com/office/drawing/2014/main" val="2245838732"/>
                  </a:ext>
                </a:extLst>
              </a:tr>
            </a:tbl>
          </a:graphicData>
        </a:graphic>
      </p:graphicFrame>
    </p:spTree>
    <p:extLst>
      <p:ext uri="{BB962C8B-B14F-4D97-AF65-F5344CB8AC3E}">
        <p14:creationId xmlns:p14="http://schemas.microsoft.com/office/powerpoint/2010/main" val="2731832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646FFF-7B40-436E-426A-D540EDEBFDF6}"/>
              </a:ext>
            </a:extLst>
          </p:cNvPr>
          <p:cNvSpPr txBox="1"/>
          <p:nvPr/>
        </p:nvSpPr>
        <p:spPr>
          <a:xfrm>
            <a:off x="621792" y="82250"/>
            <a:ext cx="10972800" cy="594360"/>
          </a:xfrm>
          <a:prstGeom prst="rect">
            <a:avLst/>
          </a:prstGeom>
          <a:noFill/>
        </p:spPr>
        <p:txBody>
          <a:bodyPr wrap="none">
            <a:spAutoFit/>
          </a:bodyPr>
          <a:lstStyle/>
          <a:p>
            <a:pPr>
              <a:defRPr sz="2800" b="1">
                <a:solidFill>
                  <a:srgbClr val="182D4A"/>
                </a:solidFill>
                <a:latin typeface="Aptos Display"/>
              </a:defRPr>
            </a:pPr>
            <a:r>
              <a:rPr dirty="0"/>
              <a:t>8. ER Diagram</a:t>
            </a:r>
          </a:p>
        </p:txBody>
      </p:sp>
      <p:sp>
        <p:nvSpPr>
          <p:cNvPr id="3" name="TextBox 2">
            <a:extLst>
              <a:ext uri="{FF2B5EF4-FFF2-40B4-BE49-F238E27FC236}">
                <a16:creationId xmlns:a16="http://schemas.microsoft.com/office/drawing/2014/main" id="{3C0D7024-6600-1E22-0F04-A3976BEF85F1}"/>
              </a:ext>
            </a:extLst>
          </p:cNvPr>
          <p:cNvSpPr txBox="1"/>
          <p:nvPr/>
        </p:nvSpPr>
        <p:spPr>
          <a:xfrm>
            <a:off x="621792" y="495804"/>
            <a:ext cx="5866478" cy="338554"/>
          </a:xfrm>
          <a:prstGeom prst="rect">
            <a:avLst/>
          </a:prstGeom>
          <a:noFill/>
        </p:spPr>
        <p:txBody>
          <a:bodyPr wrap="none">
            <a:spAutoFit/>
          </a:bodyPr>
          <a:lstStyle/>
          <a:p>
            <a:pPr>
              <a:defRPr sz="1300">
                <a:solidFill>
                  <a:srgbClr val="5F6973"/>
                </a:solidFill>
                <a:latin typeface="Aptos"/>
              </a:defRPr>
            </a:pPr>
            <a:r>
              <a:rPr sz="1600" dirty="0"/>
              <a:t>Conceptual database design – six entities and their relationships</a:t>
            </a:r>
          </a:p>
        </p:txBody>
      </p:sp>
      <p:pic>
        <p:nvPicPr>
          <p:cNvPr id="9" name="Picture 8">
            <a:extLst>
              <a:ext uri="{FF2B5EF4-FFF2-40B4-BE49-F238E27FC236}">
                <a16:creationId xmlns:a16="http://schemas.microsoft.com/office/drawing/2014/main" id="{0CB3B6F6-382B-DDA1-9EC2-A168E40E4D91}"/>
              </a:ext>
            </a:extLst>
          </p:cNvPr>
          <p:cNvPicPr>
            <a:picLocks noChangeAspect="1"/>
          </p:cNvPicPr>
          <p:nvPr/>
        </p:nvPicPr>
        <p:blipFill>
          <a:blip r:embed="rId2"/>
          <a:stretch>
            <a:fillRect/>
          </a:stretch>
        </p:blipFill>
        <p:spPr>
          <a:xfrm>
            <a:off x="1809135" y="834358"/>
            <a:ext cx="8190271" cy="5941392"/>
          </a:xfrm>
          <a:prstGeom prst="rect">
            <a:avLst/>
          </a:prstGeom>
        </p:spPr>
      </p:pic>
    </p:spTree>
    <p:extLst>
      <p:ext uri="{BB962C8B-B14F-4D97-AF65-F5344CB8AC3E}">
        <p14:creationId xmlns:p14="http://schemas.microsoft.com/office/powerpoint/2010/main" val="905446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82D4A"/>
                </a:solidFill>
                <a:latin typeface="Aptos Display"/>
              </a:defRPr>
            </a:pPr>
            <a:r>
              <a:rPr dirty="0"/>
              <a:t>9. Team Responsibilities and GitHub</a:t>
            </a:r>
          </a:p>
        </p:txBody>
      </p:sp>
      <p:sp>
        <p:nvSpPr>
          <p:cNvPr id="4" name="Rectangle 3"/>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extLst>
              <p:ext uri="{D42A27DB-BD31-4B8C-83A1-F6EECF244321}">
                <p14:modId xmlns:p14="http://schemas.microsoft.com/office/powerpoint/2010/main" val="3081799185"/>
              </p:ext>
            </p:extLst>
          </p:nvPr>
        </p:nvGraphicFramePr>
        <p:xfrm>
          <a:off x="548640" y="1737034"/>
          <a:ext cx="10744200" cy="3915677"/>
        </p:xfrm>
        <a:graphic>
          <a:graphicData uri="http://schemas.openxmlformats.org/drawingml/2006/table">
            <a:tbl>
              <a:tblPr firstRow="1" bandRow="1">
                <a:tableStyleId>{073A0DAA-6AF3-43AB-8588-CEC1D06C72B9}</a:tableStyleId>
              </a:tblPr>
              <a:tblGrid>
                <a:gridCol w="5394960">
                  <a:extLst>
                    <a:ext uri="{9D8B030D-6E8A-4147-A177-3AD203B41FA5}">
                      <a16:colId xmlns:a16="http://schemas.microsoft.com/office/drawing/2014/main" val="20000"/>
                    </a:ext>
                  </a:extLst>
                </a:gridCol>
                <a:gridCol w="5349240">
                  <a:extLst>
                    <a:ext uri="{9D8B030D-6E8A-4147-A177-3AD203B41FA5}">
                      <a16:colId xmlns:a16="http://schemas.microsoft.com/office/drawing/2014/main" val="20001"/>
                    </a:ext>
                  </a:extLst>
                </a:gridCol>
              </a:tblGrid>
              <a:tr h="605223">
                <a:tc>
                  <a:txBody>
                    <a:bodyPr/>
                    <a:lstStyle/>
                    <a:p>
                      <a:pPr>
                        <a:defRPr sz="1300" b="1">
                          <a:solidFill>
                            <a:srgbClr val="FFFFFF"/>
                          </a:solidFill>
                          <a:latin typeface="Aptos"/>
                        </a:defRPr>
                      </a:pPr>
                      <a:r>
                        <a:rPr sz="1600" dirty="0"/>
                        <a:t>Team Member</a:t>
                      </a:r>
                    </a:p>
                  </a:txBody>
                  <a:tcPr marL="73152" marR="45720" marT="36576" marB="36576"/>
                </a:tc>
                <a:tc>
                  <a:txBody>
                    <a:bodyPr/>
                    <a:lstStyle/>
                    <a:p>
                      <a:pPr>
                        <a:defRPr sz="1300" b="1">
                          <a:solidFill>
                            <a:srgbClr val="FFFFFF"/>
                          </a:solidFill>
                          <a:latin typeface="Aptos"/>
                        </a:defRPr>
                      </a:pPr>
                      <a:r>
                        <a:rPr sz="1600" dirty="0"/>
                        <a:t>Assigned responsibility</a:t>
                      </a:r>
                    </a:p>
                  </a:txBody>
                  <a:tcPr marL="73152" marR="45720" marT="36576" marB="36576"/>
                </a:tc>
                <a:extLst>
                  <a:ext uri="{0D108BD9-81ED-4DB2-BD59-A6C34878D82A}">
                    <a16:rowId xmlns:a16="http://schemas.microsoft.com/office/drawing/2014/main" val="10000"/>
                  </a:ext>
                </a:extLst>
              </a:tr>
              <a:tr h="605223">
                <a:tc>
                  <a:txBody>
                    <a:bodyPr/>
                    <a:lstStyle/>
                    <a:p>
                      <a:pPr>
                        <a:defRPr sz="1300">
                          <a:solidFill>
                            <a:srgbClr val="232323"/>
                          </a:solidFill>
                          <a:latin typeface="Aptos"/>
                        </a:defRPr>
                      </a:pPr>
                      <a:r>
                        <a:rPr lang="en-IN" sz="1600" dirty="0"/>
                        <a:t>S Tejaswini</a:t>
                      </a:r>
                      <a:endParaRPr sz="1600" dirty="0"/>
                    </a:p>
                  </a:txBody>
                  <a:tcPr marL="73152" marR="45720" marT="36576" marB="36576"/>
                </a:tc>
                <a:tc>
                  <a:txBody>
                    <a:bodyPr/>
                    <a:lstStyle/>
                    <a:p>
                      <a:pPr>
                        <a:defRPr sz="1300">
                          <a:solidFill>
                            <a:srgbClr val="232323"/>
                          </a:solidFill>
                          <a:latin typeface="Aptos"/>
                        </a:defRPr>
                      </a:pPr>
                      <a:r>
                        <a:rPr sz="1600" dirty="0"/>
                        <a:t>Project title, introduction</a:t>
                      </a:r>
                      <a:endParaRPr lang="en-IN" sz="1600" dirty="0"/>
                    </a:p>
                    <a:p>
                      <a:pPr>
                        <a:defRPr sz="1300">
                          <a:solidFill>
                            <a:srgbClr val="232323"/>
                          </a:solidFill>
                          <a:latin typeface="Aptos"/>
                        </a:defRPr>
                      </a:pPr>
                      <a:endParaRPr lang="en-IN" sz="1600" dirty="0"/>
                    </a:p>
                  </a:txBody>
                  <a:tcPr marL="73152" marR="45720" marT="36576" marB="36576"/>
                </a:tc>
                <a:extLst>
                  <a:ext uri="{0D108BD9-81ED-4DB2-BD59-A6C34878D82A}">
                    <a16:rowId xmlns:a16="http://schemas.microsoft.com/office/drawing/2014/main" val="10001"/>
                  </a:ext>
                </a:extLst>
              </a:tr>
              <a:tr h="605223">
                <a:tc>
                  <a:txBody>
                    <a:bodyPr/>
                    <a:lstStyle/>
                    <a:p>
                      <a:pPr>
                        <a:defRPr sz="1300">
                          <a:solidFill>
                            <a:srgbClr val="232323"/>
                          </a:solidFill>
                          <a:latin typeface="Aptos"/>
                        </a:defRPr>
                      </a:pPr>
                      <a:r>
                        <a:rPr lang="en-IN" sz="1600" dirty="0"/>
                        <a:t>T Devi </a:t>
                      </a:r>
                      <a:r>
                        <a:rPr lang="en-IN" sz="1600" dirty="0" err="1"/>
                        <a:t>Phanitha</a:t>
                      </a:r>
                      <a:endParaRPr sz="1600" dirty="0"/>
                    </a:p>
                  </a:txBody>
                  <a:tcPr marL="73152" marR="45720" marT="36576" marB="36576"/>
                </a:tc>
                <a:tc>
                  <a:txBody>
                    <a:bodyPr/>
                    <a:lstStyle/>
                    <a:p>
                      <a:pPr>
                        <a:defRPr sz="1300">
                          <a:solidFill>
                            <a:srgbClr val="232323"/>
                          </a:solidFill>
                          <a:latin typeface="Aptos"/>
                        </a:defRPr>
                      </a:pPr>
                      <a:r>
                        <a:rPr lang="en-IN" sz="1600" dirty="0"/>
                        <a:t>Problem Statement, Objective</a:t>
                      </a:r>
                    </a:p>
                  </a:txBody>
                  <a:tcPr marL="73152" marR="45720" marT="36576" marB="36576"/>
                </a:tc>
                <a:extLst>
                  <a:ext uri="{0D108BD9-81ED-4DB2-BD59-A6C34878D82A}">
                    <a16:rowId xmlns:a16="http://schemas.microsoft.com/office/drawing/2014/main" val="504702560"/>
                  </a:ext>
                </a:extLst>
              </a:tr>
              <a:tr h="611395">
                <a:tc>
                  <a:txBody>
                    <a:bodyPr/>
                    <a:lstStyle/>
                    <a:p>
                      <a:pPr>
                        <a:defRPr sz="1300">
                          <a:solidFill>
                            <a:srgbClr val="232323"/>
                          </a:solidFill>
                          <a:latin typeface="Aptos"/>
                        </a:defRPr>
                      </a:pPr>
                      <a:r>
                        <a:rPr lang="en-IN" sz="1600" dirty="0"/>
                        <a:t>P Madhu Shalini</a:t>
                      </a:r>
                      <a:endParaRPr sz="1600" dirty="0"/>
                    </a:p>
                  </a:txBody>
                  <a:tcPr marL="73152" marR="45720" marT="36576" marB="36576"/>
                </a:tc>
                <a:tc>
                  <a:txBody>
                    <a:bodyPr/>
                    <a:lstStyle/>
                    <a:p>
                      <a:pPr>
                        <a:defRPr sz="1300">
                          <a:solidFill>
                            <a:srgbClr val="232323"/>
                          </a:solidFill>
                          <a:latin typeface="Aptos"/>
                        </a:defRPr>
                      </a:pPr>
                      <a:r>
                        <a:rPr lang="en-US" sz="1600" dirty="0"/>
                        <a:t>S</a:t>
                      </a:r>
                      <a:r>
                        <a:rPr sz="1600" dirty="0"/>
                        <a:t>cope, and entity identification</a:t>
                      </a:r>
                      <a:r>
                        <a:rPr lang="en-US" sz="1600" dirty="0"/>
                        <a:t>, Attributes, Primary Keys, and Foreign Keys, </a:t>
                      </a:r>
                      <a:endParaRPr sz="1600" dirty="0"/>
                    </a:p>
                  </a:txBody>
                  <a:tcPr marL="73152" marR="45720" marT="36576" marB="36576"/>
                </a:tc>
                <a:extLst>
                  <a:ext uri="{0D108BD9-81ED-4DB2-BD59-A6C34878D82A}">
                    <a16:rowId xmlns:a16="http://schemas.microsoft.com/office/drawing/2014/main" val="10002"/>
                  </a:ext>
                </a:extLst>
              </a:tr>
              <a:tr h="877218">
                <a:tc>
                  <a:txBody>
                    <a:bodyPr/>
                    <a:lstStyle/>
                    <a:p>
                      <a:pPr>
                        <a:defRPr sz="1300">
                          <a:solidFill>
                            <a:srgbClr val="232323"/>
                          </a:solidFill>
                          <a:latin typeface="Aptos"/>
                        </a:defRPr>
                      </a:pPr>
                      <a:r>
                        <a:rPr lang="en-IN" sz="1600" dirty="0"/>
                        <a:t>P Krishna Kumari</a:t>
                      </a:r>
                      <a:endParaRPr sz="1600" dirty="0"/>
                    </a:p>
                  </a:txBody>
                  <a:tcPr marL="73152" marR="45720" marT="36576" marB="36576"/>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sz="1300">
                          <a:solidFill>
                            <a:srgbClr val="232323"/>
                          </a:solidFill>
                          <a:latin typeface="Aptos"/>
                        </a:defRPr>
                      </a:pPr>
                      <a:r>
                        <a:rPr lang="en-IN" sz="1600" dirty="0"/>
                        <a:t>Relationships and cardinality, </a:t>
                      </a:r>
                      <a:r>
                        <a:rPr lang="de-DE" sz="1600" dirty="0"/>
                        <a:t>Relational schema and ER diagram</a:t>
                      </a:r>
                    </a:p>
                    <a:p>
                      <a:pPr>
                        <a:defRPr sz="1300">
                          <a:solidFill>
                            <a:srgbClr val="232323"/>
                          </a:solidFill>
                          <a:latin typeface="Aptos"/>
                        </a:defRPr>
                      </a:pPr>
                      <a:endParaRPr sz="1600" dirty="0"/>
                    </a:p>
                  </a:txBody>
                  <a:tcPr marL="73152" marR="45720" marT="36576" marB="36576"/>
                </a:tc>
                <a:extLst>
                  <a:ext uri="{0D108BD9-81ED-4DB2-BD59-A6C34878D82A}">
                    <a16:rowId xmlns:a16="http://schemas.microsoft.com/office/drawing/2014/main" val="10003"/>
                  </a:ext>
                </a:extLst>
              </a:tr>
              <a:tr h="611395">
                <a:tc>
                  <a:txBody>
                    <a:bodyPr/>
                    <a:lstStyle/>
                    <a:p>
                      <a:pPr>
                        <a:defRPr sz="1300">
                          <a:solidFill>
                            <a:srgbClr val="232323"/>
                          </a:solidFill>
                          <a:latin typeface="Aptos"/>
                        </a:defRPr>
                      </a:pPr>
                      <a:r>
                        <a:rPr lang="en-IN" sz="1600" dirty="0" err="1"/>
                        <a:t>Bh</a:t>
                      </a:r>
                      <a:r>
                        <a:rPr lang="en-IN" sz="1600" dirty="0"/>
                        <a:t> Sai Anusri Varma</a:t>
                      </a:r>
                      <a:endParaRPr sz="1600" dirty="0"/>
                    </a:p>
                  </a:txBody>
                  <a:tcPr marL="73152" marR="45720" marT="36576" marB="36576"/>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sz="1300">
                          <a:solidFill>
                            <a:srgbClr val="232323"/>
                          </a:solidFill>
                          <a:latin typeface="Aptos"/>
                        </a:defRPr>
                      </a:pPr>
                      <a:r>
                        <a:rPr lang="en-US" sz="1600" dirty="0"/>
                        <a:t>GitHub repository and PPT documentation, Conclusion</a:t>
                      </a:r>
                    </a:p>
                    <a:p>
                      <a:pPr>
                        <a:defRPr sz="1300">
                          <a:solidFill>
                            <a:srgbClr val="232323"/>
                          </a:solidFill>
                          <a:latin typeface="Aptos"/>
                        </a:defRPr>
                      </a:pPr>
                      <a:endParaRPr sz="1600" dirty="0"/>
                    </a:p>
                  </a:txBody>
                  <a:tcPr marL="73152" marR="45720" marT="36576" marB="36576"/>
                </a:tc>
                <a:extLst>
                  <a:ext uri="{0D108BD9-81ED-4DB2-BD59-A6C34878D82A}">
                    <a16:rowId xmlns:a16="http://schemas.microsoft.com/office/drawing/2014/main" val="10004"/>
                  </a:ext>
                </a:extLst>
              </a:tr>
            </a:tbl>
          </a:graphicData>
        </a:graphic>
      </p:graphicFrame>
      <p:sp>
        <p:nvSpPr>
          <p:cNvPr id="6" name="TextBox 5"/>
          <p:cNvSpPr txBox="1"/>
          <p:nvPr/>
        </p:nvSpPr>
        <p:spPr>
          <a:xfrm>
            <a:off x="594360" y="5916801"/>
            <a:ext cx="5715000" cy="338554"/>
          </a:xfrm>
          <a:prstGeom prst="rect">
            <a:avLst/>
          </a:prstGeom>
          <a:noFill/>
        </p:spPr>
        <p:txBody>
          <a:bodyPr wrap="square">
            <a:spAutoFit/>
          </a:bodyPr>
          <a:lstStyle/>
          <a:p>
            <a:pPr>
              <a:defRPr sz="1500" b="1">
                <a:solidFill>
                  <a:srgbClr val="182D4A"/>
                </a:solidFill>
                <a:latin typeface="Aptos"/>
              </a:defRPr>
            </a:pPr>
            <a:r>
              <a:rPr sz="1600" dirty="0"/>
              <a:t>GitHub Repository: Add the repository name and link here</a:t>
            </a:r>
          </a:p>
        </p:txBody>
      </p:sp>
      <p:sp>
        <p:nvSpPr>
          <p:cNvPr id="7" name="TextBox 6"/>
          <p:cNvSpPr txBox="1"/>
          <p:nvPr/>
        </p:nvSpPr>
        <p:spPr>
          <a:xfrm>
            <a:off x="10789920" y="6473952"/>
            <a:ext cx="731520" cy="228600"/>
          </a:xfrm>
          <a:prstGeom prst="rect">
            <a:avLst/>
          </a:prstGeom>
          <a:noFill/>
        </p:spPr>
        <p:txBody>
          <a:bodyPr wrap="none">
            <a:spAutoFit/>
          </a:bodyPr>
          <a:lstStyle/>
          <a:p>
            <a:pPr algn="r">
              <a:defRPr sz="1000">
                <a:solidFill>
                  <a:srgbClr val="5F6973"/>
                </a:solidFill>
                <a:latin typeface="Aptos"/>
              </a:defRPr>
            </a:pPr>
            <a:r>
              <a:t>10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82D4A"/>
                </a:solidFill>
                <a:latin typeface="Aptos Display"/>
              </a:defRPr>
            </a:pPr>
            <a:r>
              <a:rPr dirty="0"/>
              <a:t>10. Conclusion</a:t>
            </a:r>
          </a:p>
        </p:txBody>
      </p:sp>
      <p:sp>
        <p:nvSpPr>
          <p:cNvPr id="4" name="Rectangle 3"/>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417320"/>
            <a:ext cx="10515600" cy="4478149"/>
          </a:xfrm>
          <a:prstGeom prst="rect">
            <a:avLst/>
          </a:prstGeom>
          <a:noFill/>
        </p:spPr>
        <p:txBody>
          <a:bodyPr wrap="square">
            <a:spAutoFit/>
          </a:bodyPr>
          <a:lstStyle/>
          <a:p>
            <a:pPr>
              <a:spcAft>
                <a:spcPts val="1000"/>
              </a:spcAft>
              <a:defRPr sz="2000" b="0">
                <a:solidFill>
                  <a:srgbClr val="232323"/>
                </a:solidFill>
                <a:latin typeface="Aptos"/>
              </a:defRPr>
            </a:pPr>
            <a:r>
              <a:rPr lang="en-US" dirty="0"/>
              <a:t>The Online Shopping System is an effective database-based application designed to simplify and manage the complete online shopping process. The system provides a convenient platform for customers to browse products, view product details, add products to a shopping cart, place orders, and make payments. At the same time, administrators can manage customers, products, categories, orders, payments, and inventory through a centralized database.</a:t>
            </a:r>
          </a:p>
          <a:p>
            <a:pPr>
              <a:spcAft>
                <a:spcPts val="1000"/>
              </a:spcAft>
              <a:defRPr sz="2000" b="0">
                <a:solidFill>
                  <a:srgbClr val="232323"/>
                </a:solidFill>
                <a:latin typeface="Aptos"/>
              </a:defRPr>
            </a:pPr>
            <a:r>
              <a:rPr lang="en-US" dirty="0"/>
              <a:t>The use of a Database Management System (DBMS) plays an important role in this project by providing efficient storage, organization, retrieval, and management of data. Relationships between different entities such as customers, products, orders, and payments can be maintained using primary keys and foreign keys. Proper database design and normalization help reduce data redundancy and maintain data consistency and integrity.</a:t>
            </a:r>
          </a:p>
          <a:p>
            <a:pPr>
              <a:spcAft>
                <a:spcPts val="1000"/>
              </a:spcAft>
              <a:defRPr sz="2000" b="0">
                <a:solidFill>
                  <a:srgbClr val="232323"/>
                </a:solidFill>
                <a:latin typeface="Aptos"/>
              </a:defRPr>
            </a:pPr>
            <a:endParaRPr lang="en-US" dirty="0"/>
          </a:p>
          <a:p>
            <a:pPr>
              <a:spcAft>
                <a:spcPts val="1000"/>
              </a:spcAft>
              <a:defRPr sz="2000" b="0">
                <a:solidFill>
                  <a:srgbClr val="232323"/>
                </a:solidFill>
                <a:latin typeface="Aptos"/>
              </a:defRPr>
            </a:pPr>
            <a:endParaRPr dirty="0"/>
          </a:p>
        </p:txBody>
      </p:sp>
      <p:sp>
        <p:nvSpPr>
          <p:cNvPr id="6" name="TextBox 5"/>
          <p:cNvSpPr txBox="1"/>
          <p:nvPr/>
        </p:nvSpPr>
        <p:spPr>
          <a:xfrm>
            <a:off x="10789920" y="6473952"/>
            <a:ext cx="731520" cy="228600"/>
          </a:xfrm>
          <a:prstGeom prst="rect">
            <a:avLst/>
          </a:prstGeom>
          <a:noFill/>
        </p:spPr>
        <p:txBody>
          <a:bodyPr wrap="none">
            <a:spAutoFit/>
          </a:bodyPr>
          <a:lstStyle/>
          <a:p>
            <a:pPr algn="r">
              <a:defRPr sz="1000">
                <a:solidFill>
                  <a:srgbClr val="5F6973"/>
                </a:solidFill>
                <a:latin typeface="Aptos"/>
              </a:defRPr>
            </a:pPr>
            <a:r>
              <a:t>11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4569A9-1AF4-1D7B-36D6-7F2DD526AF91}"/>
              </a:ext>
            </a:extLst>
          </p:cNvPr>
          <p:cNvSpPr txBox="1"/>
          <p:nvPr/>
        </p:nvSpPr>
        <p:spPr>
          <a:xfrm>
            <a:off x="3846444" y="2584174"/>
            <a:ext cx="5188226" cy="1107996"/>
          </a:xfrm>
          <a:prstGeom prst="rect">
            <a:avLst/>
          </a:prstGeom>
          <a:noFill/>
        </p:spPr>
        <p:txBody>
          <a:bodyPr wrap="square" rtlCol="0">
            <a:spAutoFit/>
          </a:bodyPr>
          <a:lstStyle/>
          <a:p>
            <a:r>
              <a:rPr lang="en-US" sz="6600" dirty="0">
                <a:solidFill>
                  <a:schemeClr val="accent1">
                    <a:lumMod val="75000"/>
                  </a:schemeClr>
                </a:solidFill>
              </a:rPr>
              <a:t>THANK</a:t>
            </a:r>
            <a:r>
              <a:rPr lang="en-US" sz="6600" dirty="0"/>
              <a:t> </a:t>
            </a:r>
            <a:r>
              <a:rPr lang="en-US" sz="6600" dirty="0">
                <a:solidFill>
                  <a:schemeClr val="accent1">
                    <a:lumMod val="75000"/>
                  </a:schemeClr>
                </a:solidFill>
              </a:rPr>
              <a:t>YOU</a:t>
            </a:r>
            <a:endParaRPr lang="en-IN" sz="6600" dirty="0">
              <a:solidFill>
                <a:schemeClr val="accent1">
                  <a:lumMod val="75000"/>
                </a:schemeClr>
              </a:solidFill>
            </a:endParaRPr>
          </a:p>
        </p:txBody>
      </p:sp>
    </p:spTree>
    <p:extLst>
      <p:ext uri="{BB962C8B-B14F-4D97-AF65-F5344CB8AC3E}">
        <p14:creationId xmlns:p14="http://schemas.microsoft.com/office/powerpoint/2010/main" val="36157137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DBMS PROJECTG</Template>
  <TotalTime>104</TotalTime>
  <Words>1415</Words>
  <Application>Microsoft Office PowerPoint</Application>
  <PresentationFormat>Widescreen</PresentationFormat>
  <Paragraphs>194</Paragraphs>
  <Slides>15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Glegoo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devi priyanka</dc:creator>
  <cp:keywords/>
  <dc:description>generated using python-pptx</dc:description>
  <cp:lastModifiedBy>devi priyanka</cp:lastModifiedBy>
  <cp:revision>7</cp:revision>
  <dcterms:created xsi:type="dcterms:W3CDTF">2026-08-10T07:47:06Z</dcterms:created>
  <dcterms:modified xsi:type="dcterms:W3CDTF">2026-08-11T04:54:32Z</dcterms:modified>
  <cp:category/>
</cp:coreProperties>
</file>